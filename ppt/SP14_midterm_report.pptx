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tags/tag43.xml" ContentType="application/vnd.openxmlformats-officedocument.presentationml.tags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2"/>
  </p:notesMasterIdLst>
  <p:sldIdLst>
    <p:sldId id="263" r:id="rId2"/>
    <p:sldId id="288" r:id="rId3"/>
    <p:sldId id="264" r:id="rId4"/>
    <p:sldId id="265" r:id="rId5"/>
    <p:sldId id="266" r:id="rId6"/>
    <p:sldId id="267" r:id="rId7"/>
    <p:sldId id="268" r:id="rId8"/>
    <p:sldId id="270" r:id="rId9"/>
    <p:sldId id="271" r:id="rId10"/>
    <p:sldId id="272" r:id="rId11"/>
    <p:sldId id="277" r:id="rId12"/>
    <p:sldId id="256" r:id="rId13"/>
    <p:sldId id="261" r:id="rId14"/>
    <p:sldId id="257" r:id="rId15"/>
    <p:sldId id="258" r:id="rId16"/>
    <p:sldId id="259" r:id="rId17"/>
    <p:sldId id="260" r:id="rId18"/>
    <p:sldId id="262" r:id="rId19"/>
    <p:sldId id="275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9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97" autoAdjust="0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96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+mn-ea"/>
                <a:cs typeface="+mn-cs"/>
              </a:r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+mn-ea"/>
                <a:cs typeface="+mn-cs"/>
              </a:r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+mn-ea"/>
                <a:cs typeface="+mn-cs"/>
              </a:r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BDD100K BAIR blog (images/examples): https://bair.berkeley.edu/blog/2018/05/30/bdd/
- Raspberry Pi AI HAT+ documentation: https://www.raspberrypi.com/documentation/accessories/ai-hat-plus.html
- HailoRT repository (runtime/CLI): https://github.com/hailo-ai/hailort
- Ultralytics YOLOv5 repo: https://github.com/ultralytics/yolov5
- Ultralytics YOLOv8 docs: https://docs.ultralytics.com/models/yolov8/
- PP-PicoDet paper (arXiv): https://arxiv.org/abs/2111.00902
- DETR paper (ECCV 2020 PDF): https://www.ecva.net/papers/eccv_2020/papers_ECCV/papers/123460205.pdf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Raspberry Pi AI Kit &amp; AI HAT+ software guide: https://www.raspberrypi.com/documentation/computers/ai.html
- Raspberry Pi AI HAT+ documentation: https://www.raspberrypi.com/documentation/accessories/ai-hat-plus.html
- HailoRT repository (runtime/CLI): https://github.com/hailo-ai/hailort
- Hailo Model Zoo optimization stage (pipeline concepts): https://github.com/hailo-ai/hailo_model_zoo/blob/master/docs/OPTIMIZATION.rst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Ultralytics YOLOv5 repository: https://github.com/ultralytics/yolov5
- Hailo community: parsing YOLOv5/YOLOv8 with DFC: https://community.hailo.ai/t/parsing-yolo-models-with-the-hailo-dataflow-compiler-tool/2384
- BDD100K BAIR blog (scene image): https://bair.berkeley.edu/blog/2018/05/30/bdd/
- HailoRT repository (runtime/CLI): https://github.com/hailo-ai/hailort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Ultralytics YOLOv8 documentation: https://docs.ultralytics.com/models/yolov8/
- Hailo community: parsing YOLOv5/YOLOv8 with DFC: https://community.hailo.ai/t/parsing-yolo-models-with-the-hailo-dataflow-compiler-tool/2384
- BDD100K BAIR blog (scene image): https://bair.berkeley.edu/blog/2018/05/30/bdd/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PP-PicoDet paper (arXiv): https://arxiv.org/abs/2111.00902
- PaddleDetection PicoDet README: https://github.com/PaddlePaddle/PaddleDetection/blob/release/2.8.1/configs/picodet/README_en.md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DETR paper (ECCV 2020 PDF): https://www.ecva.net/papers/eccv_2020/papers_ECCV/papers/123460205.pdf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HailoRT repository (runtime/CLI): https://github.com/hailo-ai/hailort
- Raspberry Pi AI Kit &amp; AI HAT+ software guide: https://www.raspberrypi.com/documentation/computers/ai.html
- Hailo community note on hailortcli run &amp; postprocessing needs: https://community.hailo.ai/t/unable-to-access-output-when-using-hailortcli-to-run-the-pre-compiled-fast-depth-model-on-a-rpi5/9756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4C3BC-E82F-D40C-A64C-99E96AC6F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B1A9B9-9DB3-98E9-AB15-D2747B0C9A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249399-523B-6135-E777-BCFAC8FD89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HailoRT repository (runtime/CLI): https://github.com/hailo-ai/hailort
- Raspberry Pi AI Kit &amp; AI HAT+ software guide: https://www.raspberrypi.com/documentation/computers/ai.html
- Hailo community note on hailortcli run &amp; postprocessing needs: https://community.hailo.ai/t/unable-to-access-output-when-using-hailortcli-to-run-the-pre-compiled-fast-depth-model-on-a-rpi5/9756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10B9FA-8CB5-E42D-1381-DAAFBFF47E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47147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ADC8B-259F-FA78-88CB-ED932A0EA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6E9BE3-D877-E64D-67DF-D9A712FC02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FAB07B-82B7-00F2-1E61-392191B2A5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HailoRT repository (runtime/CLI): https://github.com/hailo-ai/hailort
- Raspberry Pi AI Kit &amp; AI HAT+ software guide: https://www.raspberrypi.com/documentation/computers/ai.html
- Hailo community note on hailortcli run &amp; postprocessing needs: https://community.hailo.ai/t/unable-to-access-output-when-using-hailortcli-to-run-the-pre-compiled-fast-depth-model-on-a-rpi5/9756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C4E1C5-C25F-8FE6-9D73-0B16BCCBDD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95447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Ultralytics YOLOv5 repository: https://github.com/ultralytics/yolov5
- Ultralytics YOLOv8 documentation: https://docs.ultralytics.com/models/yolov8/
- PP-PicoDet paper (arXiv): https://arxiv.org/abs/2111.00902
- PaddleDetection PicoDet README: https://github.com/PaddlePaddle/PaddleDetection/blob/release/2.8.1/configs/picodet/README_en.md
- DETR paper (ECCV 2020 PDF): https://www.ecva.net/papers/eccv_2020/papers_ECCV/papers/123460205.pdf
- Raspberry Pi AI HAT+ documentation: https://www.raspberrypi.com/documentation/accessories/ai-hat-plus.html
- HailoRT repository (runtime/CLI): https://github.com/hailo-ai/hailort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slideLayout" Target="../slideLayouts/slideLayout2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image" Target="../media/image2.png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13" Type="http://schemas.openxmlformats.org/officeDocument/2006/relationships/tags" Target="../tags/tag25.xml"/><Relationship Id="rId18" Type="http://schemas.openxmlformats.org/officeDocument/2006/relationships/image" Target="../media/image1.png"/><Relationship Id="rId3" Type="http://schemas.openxmlformats.org/officeDocument/2006/relationships/tags" Target="../tags/tag15.xml"/><Relationship Id="rId7" Type="http://schemas.openxmlformats.org/officeDocument/2006/relationships/tags" Target="../tags/tag19.xml"/><Relationship Id="rId12" Type="http://schemas.openxmlformats.org/officeDocument/2006/relationships/tags" Target="../tags/tag24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14.xml"/><Relationship Id="rId16" Type="http://schemas.openxmlformats.org/officeDocument/2006/relationships/tags" Target="../tags/tag28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11" Type="http://schemas.openxmlformats.org/officeDocument/2006/relationships/tags" Target="../tags/tag23.xml"/><Relationship Id="rId5" Type="http://schemas.openxmlformats.org/officeDocument/2006/relationships/tags" Target="../tags/tag17.xml"/><Relationship Id="rId15" Type="http://schemas.openxmlformats.org/officeDocument/2006/relationships/tags" Target="../tags/tag27.xml"/><Relationship Id="rId10" Type="http://schemas.openxmlformats.org/officeDocument/2006/relationships/tags" Target="../tags/tag22.xml"/><Relationship Id="rId4" Type="http://schemas.openxmlformats.org/officeDocument/2006/relationships/tags" Target="../tags/tag16.xml"/><Relationship Id="rId9" Type="http://schemas.openxmlformats.org/officeDocument/2006/relationships/tags" Target="../tags/tag21.xml"/><Relationship Id="rId14" Type="http://schemas.openxmlformats.org/officeDocument/2006/relationships/tags" Target="../tags/tag2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13" Type="http://schemas.openxmlformats.org/officeDocument/2006/relationships/tags" Target="../tags/tag41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12" Type="http://schemas.openxmlformats.org/officeDocument/2006/relationships/tags" Target="../tags/tag40.xml"/><Relationship Id="rId2" Type="http://schemas.openxmlformats.org/officeDocument/2006/relationships/tags" Target="../tags/tag30.xml"/><Relationship Id="rId16" Type="http://schemas.openxmlformats.org/officeDocument/2006/relationships/notesSlide" Target="../notesSlides/notesSlide4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11" Type="http://schemas.openxmlformats.org/officeDocument/2006/relationships/tags" Target="../tags/tag39.xml"/><Relationship Id="rId5" Type="http://schemas.openxmlformats.org/officeDocument/2006/relationships/tags" Target="../tags/tag33.xml"/><Relationship Id="rId15" Type="http://schemas.openxmlformats.org/officeDocument/2006/relationships/slideLayout" Target="../slideLayouts/slideLayout1.xml"/><Relationship Id="rId10" Type="http://schemas.openxmlformats.org/officeDocument/2006/relationships/tags" Target="../tags/tag38.xml"/><Relationship Id="rId4" Type="http://schemas.openxmlformats.org/officeDocument/2006/relationships/tags" Target="../tags/tag32.xml"/><Relationship Id="rId9" Type="http://schemas.openxmlformats.org/officeDocument/2006/relationships/tags" Target="../tags/tag37.xml"/><Relationship Id="rId14" Type="http://schemas.openxmlformats.org/officeDocument/2006/relationships/tags" Target="../tags/tag4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3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" y="0"/>
            <a:ext cx="12184601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201295" cy="6868795"/>
          </a:xfrm>
          <a:prstGeom prst="rect">
            <a:avLst/>
          </a:prstGeom>
          <a:solidFill>
            <a:srgbClr val="A58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59" y="683413"/>
            <a:ext cx="8421981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b="1" dirty="0"/>
              <a:t>Multiple Object Recognition using Machine/Deep Learning Models </a:t>
            </a:r>
          </a:p>
          <a:p>
            <a:r>
              <a:rPr lang="en-US" altLang="zh-CN" sz="4400" b="1" dirty="0"/>
              <a:t>in Autonomous Vehicles</a:t>
            </a:r>
            <a:endParaRPr sz="4400" b="1" dirty="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2856423"/>
            <a:ext cx="178811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B7280"/>
                </a:solidFill>
                <a:latin typeface="Calibri" panose="020F0502020204030204"/>
              </a:defRPr>
            </a:pPr>
            <a:r>
              <a:rPr dirty="0"/>
              <a:t>Midterm Check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506194"/>
            <a:ext cx="256032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3549656"/>
            <a:ext cx="22311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Calibri" panose="020F0502020204030204"/>
              </a:defRPr>
            </a:pPr>
            <a:r>
              <a:rPr dirty="0"/>
              <a:t>Dataset: BDD100K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3506194"/>
            <a:ext cx="356616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85032" y="3549656"/>
            <a:ext cx="32369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Calibri" panose="020F0502020204030204"/>
              </a:defRPr>
            </a:pPr>
            <a:r>
              <a:rPr dirty="0"/>
              <a:t>Platform: Raspberry Pi 5 + Hailo NPU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897880"/>
            <a:ext cx="396512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  <a:latin typeface="Calibri" panose="020F0502020204030204"/>
              </a:defRPr>
            </a:pPr>
            <a:r>
              <a:rPr lang="en-US" altLang="zh-CN" dirty="0"/>
              <a:t>Ma </a:t>
            </a:r>
            <a:r>
              <a:rPr lang="en-US" altLang="zh-CN" dirty="0" err="1"/>
              <a:t>Haoyi</a:t>
            </a:r>
            <a:r>
              <a:rPr dirty="0"/>
              <a:t>   |   Supervisor: Prof. Bharadwaj </a:t>
            </a:r>
            <a:r>
              <a:rPr dirty="0" err="1"/>
              <a:t>Veeravalli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C47EA2C2-D419-171B-5F7C-46DCDA316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9" y="0"/>
            <a:ext cx="12184601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13385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3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Background &amp; Goal</a:t>
            </a:r>
            <a:endParaRPr lang="en-US" sz="3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3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Dataset &amp; Metrics</a:t>
            </a:r>
            <a:endParaRPr lang="en-US" sz="3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3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Method &amp; Experimental Design </a:t>
            </a:r>
          </a:p>
          <a:p>
            <a:pPr marL="0" indent="0">
              <a:lnSpc>
                <a:spcPct val="118000"/>
              </a:lnSpc>
              <a:buNone/>
            </a:pPr>
            <a:r>
              <a:rPr lang="en-US" sz="3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Results &amp; Analysis </a:t>
            </a:r>
          </a:p>
          <a:p>
            <a:pPr marL="0" indent="0">
              <a:lnSpc>
                <a:spcPct val="118000"/>
              </a:lnSpc>
              <a:buNone/>
            </a:pPr>
            <a:r>
              <a:rPr lang="en-US" sz="3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On-device Deployment &amp; Demo </a:t>
            </a:r>
          </a:p>
          <a:p>
            <a:pPr marL="0" indent="0">
              <a:lnSpc>
                <a:spcPct val="118000"/>
              </a:lnSpc>
              <a:buNone/>
            </a:pPr>
            <a:r>
              <a:rPr lang="en-US" sz="3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Interim Conclusions &amp; Next Steps </a:t>
            </a:r>
          </a:p>
          <a:p>
            <a:pPr marL="0" indent="0">
              <a:lnSpc>
                <a:spcPct val="118000"/>
              </a:lnSpc>
              <a:buNone/>
            </a:pPr>
            <a:r>
              <a:rPr lang="en-US" sz="3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Q&amp;A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Object Detection for Autonomous Driving</a:t>
            </a:r>
            <a:endParaRPr lang="en-US" sz="120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0150903-04F4-D72B-D71B-838F2269459F}"/>
              </a:ext>
            </a:extLst>
          </p:cNvPr>
          <p:cNvSpPr/>
          <p:nvPr/>
        </p:nvSpPr>
        <p:spPr>
          <a:xfrm>
            <a:off x="685800" y="1207008"/>
            <a:ext cx="10820095" cy="54864"/>
          </a:xfrm>
          <a:prstGeom prst="rect">
            <a:avLst/>
          </a:prstGeom>
          <a:solidFill>
            <a:srgbClr val="A58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627C393F-5B1E-44DC-BD3E-2A5208B95F74}"/>
              </a:ext>
            </a:extLst>
          </p:cNvPr>
          <p:cNvSpPr/>
          <p:nvPr/>
        </p:nvSpPr>
        <p:spPr>
          <a:xfrm>
            <a:off x="0" y="0"/>
            <a:ext cx="201295" cy="6868795"/>
          </a:xfrm>
          <a:prstGeom prst="rect">
            <a:avLst/>
          </a:prstGeom>
          <a:solidFill>
            <a:srgbClr val="A58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99" y="0"/>
            <a:ext cx="12184601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02920"/>
            <a:ext cx="1082009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Calibri" panose="020F0502020204030204"/>
              </a:rPr>
              <a:t>Problem &amp;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0820095" cy="54864"/>
          </a:xfrm>
          <a:prstGeom prst="rect">
            <a:avLst/>
          </a:prstGeom>
          <a:solidFill>
            <a:srgbClr val="A58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82009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6B7280"/>
                </a:solidFill>
                <a:latin typeface="Calibri" panose="020F0502020204030204"/>
              </a:rPr>
              <a:t>Real-time multi-object detection under edge constraints</a:t>
            </a:r>
          </a:p>
        </p:txBody>
      </p:sp>
      <p:sp>
        <p:nvSpPr>
          <p:cNvPr id="6" name="Rounded Rectangle 5"/>
          <p:cNvSpPr/>
          <p:nvPr>
            <p:custDataLst>
              <p:tags r:id="rId1"/>
            </p:custDataLst>
          </p:nvPr>
        </p:nvSpPr>
        <p:spPr>
          <a:xfrm>
            <a:off x="685800" y="1920240"/>
            <a:ext cx="3484778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>
            <p:custDataLst>
              <p:tags r:id="rId2"/>
            </p:custDataLst>
          </p:nvPr>
        </p:nvSpPr>
        <p:spPr>
          <a:xfrm>
            <a:off x="685800" y="2439726"/>
            <a:ext cx="3484778" cy="64008"/>
          </a:xfrm>
          <a:prstGeom prst="rect">
            <a:avLst/>
          </a:prstGeom>
          <a:solidFill>
            <a:srgbClr val="A58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960120" y="2084832"/>
            <a:ext cx="293613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Calibri" panose="020F0502020204030204"/>
              </a:rPr>
              <a:t>Safety-critical perception</a:t>
            </a:r>
          </a:p>
        </p:txBody>
      </p:sp>
      <p:sp>
        <p:nvSpPr>
          <p:cNvPr id="9" name="TextBox 8"/>
          <p:cNvSpPr txBox="1"/>
          <p:nvPr>
            <p:custDataLst>
              <p:tags r:id="rId4"/>
            </p:custDataLst>
          </p:nvPr>
        </p:nvSpPr>
        <p:spPr>
          <a:xfrm>
            <a:off x="960120" y="2560320"/>
            <a:ext cx="293613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6B7280"/>
                </a:solidFill>
                <a:latin typeface="Calibri" panose="020F0502020204030204"/>
              </a:defRPr>
            </a:pPr>
            <a:r>
              <a:t>Detect road objects reliably</a:t>
            </a:r>
          </a:p>
          <a:p>
            <a:pPr>
              <a:spcAft>
                <a:spcPts val="600"/>
              </a:spcAft>
              <a:defRPr sz="1500">
                <a:solidFill>
                  <a:srgbClr val="6B7280"/>
                </a:solidFill>
                <a:latin typeface="Calibri" panose="020F0502020204030204"/>
              </a:defRPr>
            </a:pPr>
            <a:r>
              <a:t>Support ADAS / autonomy</a:t>
            </a:r>
          </a:p>
        </p:txBody>
      </p:sp>
      <p:sp>
        <p:nvSpPr>
          <p:cNvPr id="10" name="Rounded Rectangle 9"/>
          <p:cNvSpPr/>
          <p:nvPr>
            <p:custDataLst>
              <p:tags r:id="rId5"/>
            </p:custDataLst>
          </p:nvPr>
        </p:nvSpPr>
        <p:spPr>
          <a:xfrm>
            <a:off x="4353458" y="1920240"/>
            <a:ext cx="3484778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>
            <p:custDataLst>
              <p:tags r:id="rId6"/>
            </p:custDataLst>
          </p:nvPr>
        </p:nvSpPr>
        <p:spPr>
          <a:xfrm>
            <a:off x="4353458" y="2432304"/>
            <a:ext cx="3484778" cy="64008"/>
          </a:xfrm>
          <a:prstGeom prst="rect">
            <a:avLst/>
          </a:prstGeom>
          <a:solidFill>
            <a:srgbClr val="A58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>
            <p:custDataLst>
              <p:tags r:id="rId7"/>
            </p:custDataLst>
          </p:nvPr>
        </p:nvSpPr>
        <p:spPr>
          <a:xfrm>
            <a:off x="4627778" y="2084832"/>
            <a:ext cx="293613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Calibri" panose="020F0502020204030204"/>
              </a:rPr>
              <a:t>Diverse driving conditions</a:t>
            </a:r>
          </a:p>
        </p:txBody>
      </p:sp>
      <p:sp>
        <p:nvSpPr>
          <p:cNvPr id="13" name="TextBox 12"/>
          <p:cNvSpPr txBox="1"/>
          <p:nvPr>
            <p:custDataLst>
              <p:tags r:id="rId8"/>
            </p:custDataLst>
          </p:nvPr>
        </p:nvSpPr>
        <p:spPr>
          <a:xfrm>
            <a:off x="4627778" y="2560320"/>
            <a:ext cx="2936138" cy="860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6B7280"/>
                </a:solidFill>
                <a:latin typeface="Calibri" panose="020F0502020204030204"/>
              </a:defRPr>
            </a:pPr>
            <a:r>
              <a:t>Day / night / weather variation</a:t>
            </a:r>
          </a:p>
          <a:p>
            <a:pPr>
              <a:spcAft>
                <a:spcPts val="600"/>
              </a:spcAft>
              <a:defRPr sz="1500">
                <a:solidFill>
                  <a:srgbClr val="6B7280"/>
                </a:solidFill>
                <a:latin typeface="Calibri" panose="020F0502020204030204"/>
              </a:defRPr>
            </a:pPr>
            <a:r>
              <a:t>Occlusion &amp; long-tail objects</a:t>
            </a:r>
            <a:br/>
            <a:r>
              <a:rPr lang="en-US"/>
              <a:t>	</a:t>
            </a:r>
            <a:r>
              <a:rPr lang="en-US" altLang="zh-CN"/>
              <a:t>(train/traffic sign)</a:t>
            </a:r>
          </a:p>
        </p:txBody>
      </p:sp>
      <p:sp>
        <p:nvSpPr>
          <p:cNvPr id="14" name="Rounded Rectangle 13"/>
          <p:cNvSpPr/>
          <p:nvPr>
            <p:custDataLst>
              <p:tags r:id="rId9"/>
            </p:custDataLst>
          </p:nvPr>
        </p:nvSpPr>
        <p:spPr>
          <a:xfrm>
            <a:off x="8021116" y="1920240"/>
            <a:ext cx="3484778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>
            <p:custDataLst>
              <p:tags r:id="rId10"/>
            </p:custDataLst>
          </p:nvPr>
        </p:nvSpPr>
        <p:spPr>
          <a:xfrm>
            <a:off x="8021117" y="2431057"/>
            <a:ext cx="3484778" cy="64008"/>
          </a:xfrm>
          <a:prstGeom prst="rect">
            <a:avLst/>
          </a:prstGeom>
          <a:solidFill>
            <a:srgbClr val="A58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>
            <p:custDataLst>
              <p:tags r:id="rId11"/>
            </p:custDataLst>
          </p:nvPr>
        </p:nvSpPr>
        <p:spPr>
          <a:xfrm>
            <a:off x="8295436" y="2084832"/>
            <a:ext cx="171168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dirty="0">
                <a:solidFill>
                  <a:srgbClr val="1F2937"/>
                </a:solidFill>
                <a:latin typeface="Calibri" panose="020F0502020204030204"/>
              </a:rPr>
              <a:t>Edge </a:t>
            </a:r>
            <a:r>
              <a:rPr lang="en-US" altLang="zh-CN" sz="1800" b="1" dirty="0">
                <a:solidFill>
                  <a:srgbClr val="1F2937"/>
                </a:solidFill>
                <a:latin typeface="Calibri" panose="020F0502020204030204"/>
              </a:rPr>
              <a:t>limitations</a:t>
            </a:r>
            <a:endParaRPr sz="1800" b="1" dirty="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>
            <p:custDataLst>
              <p:tags r:id="rId12"/>
            </p:custDataLst>
          </p:nvPr>
        </p:nvSpPr>
        <p:spPr>
          <a:xfrm>
            <a:off x="8295436" y="2560320"/>
            <a:ext cx="293613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6B7280"/>
                </a:solidFill>
                <a:latin typeface="Calibri" panose="020F0502020204030204"/>
              </a:defRPr>
            </a:pPr>
            <a:r>
              <a:t>Low latency on-device</a:t>
            </a:r>
          </a:p>
          <a:p>
            <a:pPr>
              <a:spcAft>
                <a:spcPts val="600"/>
              </a:spcAft>
              <a:defRPr sz="1500">
                <a:solidFill>
                  <a:srgbClr val="6B7280"/>
                </a:solidFill>
                <a:latin typeface="Calibri" panose="020F0502020204030204"/>
              </a:defRPr>
            </a:pPr>
            <a:r>
              <a:t>Limited compute &amp; power</a:t>
            </a:r>
          </a:p>
        </p:txBody>
      </p:sp>
      <p:pic>
        <p:nvPicPr>
          <p:cNvPr id="18" name="Picture 17" descr="ann_banner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" y="4160520"/>
            <a:ext cx="10820095" cy="114300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868680" y="4983480"/>
            <a:ext cx="60350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5074920"/>
            <a:ext cx="5669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937"/>
                </a:solidFill>
                <a:latin typeface="Calibri" panose="020F0502020204030204"/>
              </a:defRPr>
            </a:pPr>
            <a:r>
              <a:rPr dirty="0">
                <a:highlight>
                  <a:srgbClr val="FFFF00"/>
                </a:highlight>
              </a:rPr>
              <a:t>Goal: accuracy + real-time </a:t>
            </a:r>
            <a:r>
              <a:rPr dirty="0" err="1">
                <a:highlight>
                  <a:srgbClr val="FFFF00"/>
                </a:highlight>
              </a:rPr>
              <a:t>deployability</a:t>
            </a:r>
            <a:r>
              <a:rPr dirty="0">
                <a:highlight>
                  <a:srgbClr val="FFFF00"/>
                </a:highlight>
              </a:rPr>
              <a:t> on embedded hardware.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46520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Calibri" panose="020F0502020204030204"/>
              </a:defRPr>
            </a:pPr>
            <a:r>
              <a:t>Ref: BDD100K overview &amp; examples (BAIR blog, 2018).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699" y="0"/>
            <a:ext cx="12184601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02920"/>
            <a:ext cx="1081976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Calibri" panose="020F0502020204030204"/>
              </a:rPr>
              <a:t>Objectives &amp; Deliverables</a:t>
            </a:r>
            <a:endParaRPr lang="en-US" sz="3600" b="1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0820095" cy="54864"/>
          </a:xfrm>
          <a:prstGeom prst="rect">
            <a:avLst/>
          </a:prstGeom>
          <a:solidFill>
            <a:srgbClr val="A58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82009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6B7280"/>
                </a:solidFill>
                <a:latin typeface="Calibri" panose="020F0502020204030204"/>
              </a:rPr>
              <a:t>What we aim to achieve by the end of FYP</a:t>
            </a:r>
          </a:p>
        </p:txBody>
      </p:sp>
      <p:sp>
        <p:nvSpPr>
          <p:cNvPr id="6" name="Rounded Rectangle 5"/>
          <p:cNvSpPr/>
          <p:nvPr>
            <p:custDataLst>
              <p:tags r:id="rId1"/>
            </p:custDataLst>
          </p:nvPr>
        </p:nvSpPr>
        <p:spPr>
          <a:xfrm>
            <a:off x="685800" y="1874519"/>
            <a:ext cx="5295747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>
            <p:custDataLst>
              <p:tags r:id="rId2"/>
            </p:custDataLst>
          </p:nvPr>
        </p:nvSpPr>
        <p:spPr>
          <a:xfrm>
            <a:off x="685800" y="2432303"/>
            <a:ext cx="5295747" cy="64008"/>
          </a:xfrm>
          <a:prstGeom prst="rect">
            <a:avLst/>
          </a:prstGeom>
          <a:solidFill>
            <a:srgbClr val="A58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960120" y="2039111"/>
            <a:ext cx="474710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dirty="0">
                <a:solidFill>
                  <a:srgbClr val="1F2937"/>
                </a:solidFill>
                <a:latin typeface="Calibri" panose="020F0502020204030204"/>
              </a:rPr>
              <a:t>Implement &amp; fine-tune detectors</a:t>
            </a:r>
          </a:p>
        </p:txBody>
      </p:sp>
      <p:sp>
        <p:nvSpPr>
          <p:cNvPr id="9" name="TextBox 8"/>
          <p:cNvSpPr txBox="1"/>
          <p:nvPr>
            <p:custDataLst>
              <p:tags r:id="rId4"/>
            </p:custDataLst>
          </p:nvPr>
        </p:nvSpPr>
        <p:spPr>
          <a:xfrm>
            <a:off x="960120" y="2514599"/>
            <a:ext cx="4747107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6B7280"/>
                </a:solidFill>
                <a:latin typeface="Calibri" panose="020F0502020204030204"/>
              </a:defRPr>
            </a:pPr>
            <a:r>
              <a:t>Use driving-scene labels</a:t>
            </a:r>
          </a:p>
          <a:p>
            <a:pPr>
              <a:spcAft>
                <a:spcPts val="600"/>
              </a:spcAft>
              <a:defRPr sz="1600">
                <a:solidFill>
                  <a:srgbClr val="6B7280"/>
                </a:solidFill>
                <a:latin typeface="Calibri" panose="020F0502020204030204"/>
              </a:defRPr>
            </a:pPr>
            <a:r>
              <a:t>Train multiple detector families</a:t>
            </a:r>
          </a:p>
        </p:txBody>
      </p:sp>
      <p:sp>
        <p:nvSpPr>
          <p:cNvPr id="10" name="Rounded Rectangle 9"/>
          <p:cNvSpPr/>
          <p:nvPr>
            <p:custDataLst>
              <p:tags r:id="rId5"/>
            </p:custDataLst>
          </p:nvPr>
        </p:nvSpPr>
        <p:spPr>
          <a:xfrm>
            <a:off x="6210147" y="1874519"/>
            <a:ext cx="5295747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>
            <p:custDataLst>
              <p:tags r:id="rId6"/>
            </p:custDataLst>
          </p:nvPr>
        </p:nvSpPr>
        <p:spPr>
          <a:xfrm>
            <a:off x="6210148" y="2436933"/>
            <a:ext cx="5295747" cy="64008"/>
          </a:xfrm>
          <a:prstGeom prst="rect">
            <a:avLst/>
          </a:prstGeom>
          <a:solidFill>
            <a:srgbClr val="A58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>
            <p:custDataLst>
              <p:tags r:id="rId7"/>
            </p:custDataLst>
          </p:nvPr>
        </p:nvSpPr>
        <p:spPr>
          <a:xfrm>
            <a:off x="6484467" y="2039111"/>
            <a:ext cx="474710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Calibri" panose="020F0502020204030204"/>
              </a:rPr>
              <a:t>Compare methods</a:t>
            </a:r>
          </a:p>
        </p:txBody>
      </p:sp>
      <p:sp>
        <p:nvSpPr>
          <p:cNvPr id="13" name="TextBox 12"/>
          <p:cNvSpPr txBox="1"/>
          <p:nvPr>
            <p:custDataLst>
              <p:tags r:id="rId8"/>
            </p:custDataLst>
          </p:nvPr>
        </p:nvSpPr>
        <p:spPr>
          <a:xfrm>
            <a:off x="6484467" y="2514599"/>
            <a:ext cx="4747107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6B7280"/>
                </a:solidFill>
                <a:latin typeface="Calibri" panose="020F0502020204030204"/>
              </a:defRPr>
            </a:pPr>
            <a:r>
              <a:rPr dirty="0"/>
              <a:t>One-stage CNN vs transformer-based</a:t>
            </a:r>
            <a:r>
              <a:rPr lang="en-US" dirty="0"/>
              <a:t> vs ML method</a:t>
            </a:r>
          </a:p>
          <a:p>
            <a:pPr>
              <a:spcAft>
                <a:spcPts val="600"/>
              </a:spcAft>
              <a:defRPr sz="1600">
                <a:solidFill>
                  <a:srgbClr val="6B7280"/>
                </a:solidFill>
                <a:latin typeface="Calibri" panose="020F0502020204030204"/>
              </a:defRPr>
            </a:pPr>
            <a:r>
              <a:rPr dirty="0"/>
              <a:t>Trade-offs: accuracy vs speed</a:t>
            </a:r>
          </a:p>
        </p:txBody>
      </p:sp>
      <p:sp>
        <p:nvSpPr>
          <p:cNvPr id="14" name="Rounded Rectangle 13"/>
          <p:cNvSpPr/>
          <p:nvPr>
            <p:custDataLst>
              <p:tags r:id="rId9"/>
            </p:custDataLst>
          </p:nvPr>
        </p:nvSpPr>
        <p:spPr>
          <a:xfrm>
            <a:off x="685800" y="4114799"/>
            <a:ext cx="5295747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>
            <p:custDataLst>
              <p:tags r:id="rId10"/>
            </p:custDataLst>
          </p:nvPr>
        </p:nvSpPr>
        <p:spPr>
          <a:xfrm>
            <a:off x="685800" y="4678995"/>
            <a:ext cx="5295747" cy="64008"/>
          </a:xfrm>
          <a:prstGeom prst="rect">
            <a:avLst/>
          </a:prstGeom>
          <a:solidFill>
            <a:srgbClr val="A58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>
            <p:custDataLst>
              <p:tags r:id="rId11"/>
            </p:custDataLst>
          </p:nvPr>
        </p:nvSpPr>
        <p:spPr>
          <a:xfrm>
            <a:off x="960120" y="4279391"/>
            <a:ext cx="474710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Calibri" panose="020F0502020204030204"/>
              </a:rPr>
              <a:t>Evaluate performance</a:t>
            </a:r>
          </a:p>
        </p:txBody>
      </p:sp>
      <p:sp>
        <p:nvSpPr>
          <p:cNvPr id="17" name="TextBox 16"/>
          <p:cNvSpPr txBox="1"/>
          <p:nvPr>
            <p:custDataLst>
              <p:tags r:id="rId12"/>
            </p:custDataLst>
          </p:nvPr>
        </p:nvSpPr>
        <p:spPr>
          <a:xfrm>
            <a:off x="960120" y="4754879"/>
            <a:ext cx="4747107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6B7280"/>
                </a:solidFill>
                <a:latin typeface="Calibri" panose="020F0502020204030204"/>
              </a:defRPr>
            </a:pPr>
            <a:r>
              <a:t>Accuracy: mAP / Precision / Recall</a:t>
            </a:r>
          </a:p>
          <a:p>
            <a:pPr>
              <a:spcAft>
                <a:spcPts val="600"/>
              </a:spcAft>
              <a:defRPr sz="1600">
                <a:solidFill>
                  <a:srgbClr val="6B7280"/>
                </a:solidFill>
                <a:latin typeface="Calibri" panose="020F0502020204030204"/>
              </a:defRPr>
            </a:pPr>
            <a:r>
              <a:t>Efficiency: FPS / latency / model size</a:t>
            </a:r>
          </a:p>
        </p:txBody>
      </p:sp>
      <p:sp>
        <p:nvSpPr>
          <p:cNvPr id="18" name="Rounded Rectangle 17"/>
          <p:cNvSpPr/>
          <p:nvPr>
            <p:custDataLst>
              <p:tags r:id="rId13"/>
            </p:custDataLst>
          </p:nvPr>
        </p:nvSpPr>
        <p:spPr>
          <a:xfrm>
            <a:off x="6210147" y="4114799"/>
            <a:ext cx="5295747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>
            <p:custDataLst>
              <p:tags r:id="rId14"/>
            </p:custDataLst>
          </p:nvPr>
        </p:nvSpPr>
        <p:spPr>
          <a:xfrm>
            <a:off x="6210146" y="4669434"/>
            <a:ext cx="5295747" cy="64008"/>
          </a:xfrm>
          <a:prstGeom prst="rect">
            <a:avLst/>
          </a:prstGeom>
          <a:solidFill>
            <a:srgbClr val="A58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>
            <p:custDataLst>
              <p:tags r:id="rId15"/>
            </p:custDataLst>
          </p:nvPr>
        </p:nvSpPr>
        <p:spPr>
          <a:xfrm>
            <a:off x="6484467" y="4279391"/>
            <a:ext cx="474710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Calibri" panose="020F0502020204030204"/>
              </a:rPr>
              <a:t>Deploy a working pipeline</a:t>
            </a:r>
          </a:p>
        </p:txBody>
      </p:sp>
      <p:sp>
        <p:nvSpPr>
          <p:cNvPr id="21" name="TextBox 20"/>
          <p:cNvSpPr txBox="1"/>
          <p:nvPr>
            <p:custDataLst>
              <p:tags r:id="rId16"/>
            </p:custDataLst>
          </p:nvPr>
        </p:nvSpPr>
        <p:spPr>
          <a:xfrm>
            <a:off x="6484467" y="4754879"/>
            <a:ext cx="4747107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6B7280"/>
                </a:solidFill>
                <a:latin typeface="Calibri" panose="020F0502020204030204"/>
              </a:defRPr>
            </a:pPr>
            <a:r>
              <a:t>Camera → inference → visualization</a:t>
            </a:r>
          </a:p>
          <a:p>
            <a:pPr>
              <a:spcAft>
                <a:spcPts val="600"/>
              </a:spcAft>
              <a:defRPr sz="1600">
                <a:solidFill>
                  <a:srgbClr val="6B7280"/>
                </a:solidFill>
                <a:latin typeface="Calibri" panose="020F0502020204030204"/>
              </a:defRPr>
            </a:pPr>
            <a:r>
              <a:t>Embedded runtime constraints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446520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Calibri" panose="020F0502020204030204"/>
              </a:defRPr>
            </a:pPr>
            <a:r>
              <a:t>Ref: DETR (Carion et al., ECCV 2020) for transformer-based detectors.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" y="0"/>
            <a:ext cx="12184601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02920"/>
            <a:ext cx="1082009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Calibri" panose="020F0502020204030204"/>
              </a:rPr>
              <a:t>Target Platforms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0820095" cy="54864"/>
          </a:xfrm>
          <a:prstGeom prst="rect">
            <a:avLst/>
          </a:prstGeom>
          <a:solidFill>
            <a:srgbClr val="A58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82009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6B7280"/>
                </a:solidFill>
                <a:latin typeface="Calibri" panose="020F0502020204030204"/>
              </a:rPr>
              <a:t>Baseline CPU vs accelerated NPU deployment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5295747" cy="27889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00347" y="2377440"/>
            <a:ext cx="5295747" cy="64008"/>
          </a:xfrm>
          <a:prstGeom prst="rect">
            <a:avLst/>
          </a:prstGeom>
          <a:solidFill>
            <a:srgbClr val="A58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93392"/>
            <a:ext cx="474710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Calibri" panose="020F0502020204030204"/>
              </a:rPr>
              <a:t>Baseline: Raspberry Pi 5 (CPU)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68880"/>
            <a:ext cx="4747107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6B7280"/>
                </a:solidFill>
                <a:latin typeface="Calibri" panose="020F0502020204030204"/>
              </a:defRPr>
            </a:pPr>
            <a:r>
              <a:t>CPU-only baseline (no accelerator)</a:t>
            </a:r>
          </a:p>
          <a:p>
            <a:pPr>
              <a:spcAft>
                <a:spcPts val="600"/>
              </a:spcAft>
              <a:defRPr sz="1500">
                <a:solidFill>
                  <a:srgbClr val="6B7280"/>
                </a:solidFill>
                <a:latin typeface="Calibri" panose="020F0502020204030204"/>
              </a:defRPr>
            </a:pPr>
            <a:r>
              <a:t>Used to understand bottlenecks &amp; minimum FPS</a:t>
            </a:r>
          </a:p>
          <a:p>
            <a:pPr>
              <a:spcAft>
                <a:spcPts val="600"/>
              </a:spcAft>
              <a:defRPr sz="1500">
                <a:solidFill>
                  <a:srgbClr val="6B7280"/>
                </a:solidFill>
                <a:latin typeface="Calibri" panose="020F0502020204030204"/>
              </a:defRPr>
            </a:pPr>
            <a:r>
              <a:t>Real-time may be challenging at 1080p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0147" y="1828800"/>
            <a:ext cx="5295747" cy="27889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0147" y="2368296"/>
            <a:ext cx="5295747" cy="64008"/>
          </a:xfrm>
          <a:prstGeom prst="rect">
            <a:avLst/>
          </a:prstGeom>
          <a:solidFill>
            <a:srgbClr val="A58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84467" y="1993392"/>
            <a:ext cx="474710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Calibri" panose="020F0502020204030204"/>
              </a:rPr>
              <a:t>Accelerated: Pi 5 + Hailo (NPU)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4467" y="2468880"/>
            <a:ext cx="4747107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6B7280"/>
                </a:solidFill>
                <a:latin typeface="Calibri" panose="020F0502020204030204"/>
              </a:defRPr>
            </a:pPr>
            <a:r>
              <a:t>Primary target for real-time inference</a:t>
            </a:r>
          </a:p>
          <a:p>
            <a:pPr>
              <a:spcAft>
                <a:spcPts val="600"/>
              </a:spcAft>
              <a:defRPr sz="1500">
                <a:solidFill>
                  <a:srgbClr val="6B7280"/>
                </a:solidFill>
                <a:latin typeface="Calibri" panose="020F0502020204030204"/>
              </a:defRPr>
            </a:pPr>
            <a:r>
              <a:t>Accelerator via PCIe (AI HAT+/AI Kit)</a:t>
            </a:r>
          </a:p>
          <a:p>
            <a:pPr>
              <a:spcAft>
                <a:spcPts val="600"/>
              </a:spcAft>
              <a:defRPr sz="1500">
                <a:solidFill>
                  <a:srgbClr val="6B7280"/>
                </a:solidFill>
                <a:latin typeface="Calibri" panose="020F0502020204030204"/>
              </a:defRPr>
            </a:pPr>
            <a:r>
              <a:t>Quantized deployment (e.g., INT8) for speed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7526" y="4956048"/>
            <a:ext cx="26060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5331" y="5056632"/>
            <a:ext cx="217043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F2937"/>
                </a:solidFill>
                <a:latin typeface="Calibri" panose="020F0502020204030204"/>
              </a:defRPr>
            </a:pPr>
            <a:r>
              <a:rPr dirty="0"/>
              <a:t>Stereo Camera</a:t>
            </a:r>
            <a:r>
              <a:rPr lang="en-US" dirty="0"/>
              <a:t>(video input)</a:t>
            </a:r>
          </a:p>
        </p:txBody>
      </p:sp>
      <p:sp>
        <p:nvSpPr>
          <p:cNvPr id="16" name="Chevron 15"/>
          <p:cNvSpPr/>
          <p:nvPr/>
        </p:nvSpPr>
        <p:spPr>
          <a:xfrm>
            <a:off x="2829988" y="5047488"/>
            <a:ext cx="411480" cy="320040"/>
          </a:xfrm>
          <a:prstGeom prst="chevron">
            <a:avLst/>
          </a:prstGeom>
          <a:solidFill>
            <a:srgbClr val="A58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260952" y="4956048"/>
            <a:ext cx="26060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50537" y="5056632"/>
            <a:ext cx="162687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F2937"/>
                </a:solidFill>
                <a:latin typeface="Calibri" panose="020F0502020204030204"/>
              </a:defRPr>
            </a:pPr>
            <a:r>
              <a:rPr dirty="0"/>
              <a:t>Raspberry Pi 5</a:t>
            </a:r>
            <a:r>
              <a:rPr lang="en-US" dirty="0"/>
              <a:t>(CPU)</a:t>
            </a:r>
          </a:p>
        </p:txBody>
      </p:sp>
      <p:sp>
        <p:nvSpPr>
          <p:cNvPr id="19" name="Chevron 18"/>
          <p:cNvSpPr/>
          <p:nvPr/>
        </p:nvSpPr>
        <p:spPr>
          <a:xfrm>
            <a:off x="5914496" y="5047488"/>
            <a:ext cx="411480" cy="320040"/>
          </a:xfrm>
          <a:prstGeom prst="chevron">
            <a:avLst/>
          </a:prstGeom>
          <a:solidFill>
            <a:srgbClr val="A58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344402" y="4956048"/>
            <a:ext cx="26060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44402" y="5056632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F2937"/>
                </a:solidFill>
                <a:latin typeface="Calibri" panose="020F0502020204030204"/>
              </a:defRPr>
            </a:pPr>
            <a:r>
              <a:rPr dirty="0"/>
              <a:t>Hailo NPU</a:t>
            </a:r>
          </a:p>
        </p:txBody>
      </p:sp>
      <p:sp>
        <p:nvSpPr>
          <p:cNvPr id="22" name="Chevron 21"/>
          <p:cNvSpPr/>
          <p:nvPr/>
        </p:nvSpPr>
        <p:spPr>
          <a:xfrm>
            <a:off x="8974187" y="5047488"/>
            <a:ext cx="411480" cy="320040"/>
          </a:xfrm>
          <a:prstGeom prst="chevron">
            <a:avLst/>
          </a:prstGeom>
          <a:solidFill>
            <a:srgbClr val="A58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415949" y="4956048"/>
            <a:ext cx="260604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15949" y="5056632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F2937"/>
                </a:solidFill>
                <a:latin typeface="Calibri" panose="020F0502020204030204"/>
              </a:defRPr>
            </a:pPr>
            <a:r>
              <a:rPr dirty="0"/>
              <a:t>Display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446520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Calibri" panose="020F0502020204030204"/>
              </a:defRPr>
            </a:pPr>
            <a:r>
              <a:t>Refs: Raspberry Pi AI HAT+ docs / product brief (Raspberry Pi Ltd.).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>
            <a:extLst>
              <a:ext uri="{FF2B5EF4-FFF2-40B4-BE49-F238E27FC236}">
                <a16:creationId xmlns:a16="http://schemas.microsoft.com/office/drawing/2014/main" id="{726F328A-FDE0-F8CE-C18A-302EEB210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" y="0"/>
            <a:ext cx="12184601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02920"/>
            <a:ext cx="1082009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Calibri" panose="020F0502020204030204"/>
              </a:rPr>
              <a:t>Dataset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0820095" cy="54864"/>
          </a:xfrm>
          <a:prstGeom prst="rect">
            <a:avLst/>
          </a:prstGeom>
          <a:solidFill>
            <a:srgbClr val="A58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82009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6B7280"/>
                </a:solidFill>
                <a:latin typeface="Calibri" panose="020F0502020204030204"/>
              </a:rPr>
              <a:t>Fine-tuning from official pretrained checkpoints on driving-domain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55778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2409445"/>
            <a:ext cx="5577840" cy="64008"/>
          </a:xfrm>
          <a:prstGeom prst="rect">
            <a:avLst/>
          </a:prstGeom>
          <a:solidFill>
            <a:srgbClr val="A58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039111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Calibri" panose="020F0502020204030204"/>
              </a:rPr>
              <a:t>Step 1 — Initialize from pretrained checkpoints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14599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6B7280"/>
                </a:solidFill>
                <a:latin typeface="Calibri" panose="020F0502020204030204"/>
              </a:defRPr>
            </a:pPr>
            <a:r>
              <a:t>Use official weights (already pretrained by model authors)</a:t>
            </a:r>
          </a:p>
          <a:p>
            <a:pPr>
              <a:spcAft>
                <a:spcPts val="600"/>
              </a:spcAft>
              <a:defRPr sz="1500">
                <a:solidFill>
                  <a:srgbClr val="6B7280"/>
                </a:solidFill>
                <a:latin typeface="Calibri" panose="020F0502020204030204"/>
              </a:defRPr>
            </a:pPr>
            <a:r>
              <a:t>Focus on domain adaptation rather than pretraining from scratch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3200400" y="3529584"/>
            <a:ext cx="548640" cy="502920"/>
          </a:xfrm>
          <a:prstGeom prst="downArrow">
            <a:avLst/>
          </a:prstGeom>
          <a:solidFill>
            <a:srgbClr val="A58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85800" y="4076699"/>
            <a:ext cx="55778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4620767"/>
            <a:ext cx="5577840" cy="64008"/>
          </a:xfrm>
          <a:prstGeom prst="rect">
            <a:avLst/>
          </a:prstGeom>
          <a:solidFill>
            <a:srgbClr val="A58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4241291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Calibri" panose="020F0502020204030204"/>
              </a:rPr>
              <a:t>Step 2 — Fine-tune &amp; evaluate on BDD100K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716779"/>
            <a:ext cx="5029200" cy="937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6B7280"/>
                </a:solidFill>
                <a:latin typeface="Calibri" panose="020F0502020204030204"/>
              </a:defRPr>
            </a:pPr>
            <a:r>
              <a:t>Driving scenes with diverse conditions</a:t>
            </a:r>
          </a:p>
          <a:p>
            <a:pPr>
              <a:spcAft>
                <a:spcPts val="600"/>
              </a:spcAft>
              <a:defRPr sz="1500">
                <a:solidFill>
                  <a:srgbClr val="6B7280"/>
                </a:solidFill>
                <a:latin typeface="Calibri" panose="020F0502020204030204"/>
              </a:defRPr>
            </a:pPr>
            <a:r>
              <a:t>Use standard detection metrics for comparison</a:t>
            </a:r>
          </a:p>
          <a:p>
            <a:pPr>
              <a:spcAft>
                <a:spcPts val="600"/>
              </a:spcAft>
              <a:defRPr sz="1500">
                <a:solidFill>
                  <a:srgbClr val="6B7280"/>
                </a:solidFill>
                <a:latin typeface="Calibri" panose="020F0502020204030204"/>
              </a:defRPr>
            </a:pPr>
            <a:r>
              <a:rPr lang="en-US"/>
              <a:t>Train 70000 / Val 10000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1874519"/>
            <a:ext cx="5059375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46519" y="2415441"/>
            <a:ext cx="5059375" cy="64008"/>
          </a:xfrm>
          <a:prstGeom prst="rect">
            <a:avLst/>
          </a:prstGeom>
          <a:solidFill>
            <a:srgbClr val="A58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20840" y="2039111"/>
            <a:ext cx="451073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Calibri" panose="020F0502020204030204"/>
              </a:rPr>
              <a:t>BDD100K at a glance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514599"/>
            <a:ext cx="4510735" cy="598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 panose="020F0502020204030204"/>
              </a:defRPr>
            </a:pPr>
            <a:r>
              <a:t>100K driving videos (~40s, 720p, 30fps)</a:t>
            </a:r>
          </a:p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 panose="020F0502020204030204"/>
              </a:defRPr>
            </a:pPr>
            <a:r>
              <a:t>Annotated keyframes for detection + multi-task labels</a:t>
            </a:r>
          </a:p>
        </p:txBody>
      </p:sp>
      <p:pic>
        <p:nvPicPr>
          <p:cNvPr id="19" name="Picture 18" descr="bdd_day_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3456431"/>
            <a:ext cx="1540154" cy="1417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46520" y="4919471"/>
            <a:ext cx="154015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F2937"/>
                </a:solidFill>
                <a:latin typeface="Calibri" panose="020F0502020204030204"/>
              </a:defRPr>
            </a:pPr>
            <a:r>
              <a:t>Day</a:t>
            </a:r>
          </a:p>
        </p:txBody>
      </p:sp>
      <p:pic>
        <p:nvPicPr>
          <p:cNvPr id="21" name="Picture 20" descr="bdd_night_rou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6130" y="3456431"/>
            <a:ext cx="1540154" cy="14173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206130" y="4919471"/>
            <a:ext cx="154015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F2937"/>
                </a:solidFill>
                <a:latin typeface="Calibri" panose="020F0502020204030204"/>
              </a:defRPr>
            </a:pPr>
            <a:r>
              <a:t>Night</a:t>
            </a:r>
          </a:p>
        </p:txBody>
      </p:sp>
      <p:pic>
        <p:nvPicPr>
          <p:cNvPr id="23" name="Picture 22" descr="bdd_rain_rou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5740" y="3456431"/>
            <a:ext cx="1540154" cy="14173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965740" y="4919471"/>
            <a:ext cx="154015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F2937"/>
                </a:solidFill>
                <a:latin typeface="Calibri" panose="020F0502020204030204"/>
              </a:defRPr>
            </a:pPr>
            <a:r>
              <a:t>Rain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46520" y="5239511"/>
            <a:ext cx="5059375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46518" y="5696711"/>
            <a:ext cx="5059375" cy="64008"/>
          </a:xfrm>
          <a:prstGeom prst="rect">
            <a:avLst/>
          </a:prstGeom>
          <a:solidFill>
            <a:srgbClr val="A58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20837" y="5308091"/>
            <a:ext cx="451073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dirty="0">
                <a:solidFill>
                  <a:srgbClr val="1F2937"/>
                </a:solidFill>
                <a:latin typeface="Calibri" panose="020F0502020204030204"/>
              </a:rPr>
              <a:t>Why it fits our project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5801332"/>
            <a:ext cx="4685409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 panose="020F0502020204030204"/>
              </a:defRPr>
            </a:pPr>
            <a:r>
              <a:rPr dirty="0"/>
              <a:t>Contains day/night and adverse conditions</a:t>
            </a:r>
          </a:p>
          <a:p>
            <a:pPr>
              <a:spcAft>
                <a:spcPts val="600"/>
              </a:spcAft>
              <a:defRPr sz="1400">
                <a:solidFill>
                  <a:srgbClr val="6B7280"/>
                </a:solidFill>
                <a:latin typeface="Calibri" panose="020F0502020204030204"/>
              </a:defRPr>
            </a:pPr>
            <a:r>
              <a:rPr dirty="0"/>
              <a:t>Matches embedded, real-world driving deployment scenarios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446520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Calibri" panose="020F0502020204030204"/>
              </a:defRPr>
            </a:pPr>
            <a:r>
              <a:t>Images: BDD100K examples from BAIR blog (Yu, 2018).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" y="0"/>
            <a:ext cx="12184601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02920"/>
            <a:ext cx="1082009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Calibri" panose="020F0502020204030204"/>
              </a:rPr>
              <a:t>Evaluation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07008"/>
            <a:ext cx="10820095" cy="54864"/>
          </a:xfrm>
          <a:prstGeom prst="rect">
            <a:avLst/>
          </a:prstGeom>
          <a:solidFill>
            <a:srgbClr val="A58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82009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6B7280"/>
                </a:solidFill>
                <a:latin typeface="Calibri" panose="020F0502020204030204"/>
              </a:rPr>
              <a:t>How we measure accuracy and real-time deployability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5295747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2450591"/>
            <a:ext cx="5295747" cy="64008"/>
          </a:xfrm>
          <a:prstGeom prst="rect">
            <a:avLst/>
          </a:prstGeom>
          <a:solidFill>
            <a:srgbClr val="A58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039111"/>
            <a:ext cx="28600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Calibri" panose="020F0502020204030204"/>
              </a:rPr>
              <a:t>Accuracy (offline</a:t>
            </a:r>
            <a:r>
              <a:rPr lang="en-US" sz="1800" b="1">
                <a:solidFill>
                  <a:srgbClr val="1F2937"/>
                </a:solidFill>
                <a:latin typeface="Calibri" panose="020F0502020204030204"/>
              </a:rPr>
              <a:t>/on-device</a:t>
            </a:r>
            <a:r>
              <a:rPr sz="1800" b="1">
                <a:solidFill>
                  <a:srgbClr val="1F2937"/>
                </a:solidFill>
                <a:latin typeface="Calibri" panose="020F0502020204030204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14599"/>
            <a:ext cx="4747107" cy="1076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6B7280"/>
                </a:solidFill>
                <a:latin typeface="Calibri" panose="020F0502020204030204"/>
              </a:defRPr>
            </a:pPr>
            <a:r>
              <a:rPr sz="1800">
                <a:solidFill>
                  <a:schemeClr val="tx1"/>
                </a:solidFill>
              </a:rPr>
              <a:t>mAP@0.5 and mAP@[0.5:0.95] (COCO-style)</a:t>
            </a:r>
          </a:p>
          <a:p>
            <a:pPr>
              <a:spcAft>
                <a:spcPts val="600"/>
              </a:spcAft>
              <a:defRPr sz="1500">
                <a:solidFill>
                  <a:srgbClr val="6B7280"/>
                </a:solidFill>
                <a:latin typeface="Calibri" panose="020F0502020204030204"/>
              </a:defRPr>
            </a:pPr>
            <a:r>
              <a:rPr sz="1800">
                <a:solidFill>
                  <a:schemeClr val="tx1"/>
                </a:solidFill>
              </a:rPr>
              <a:t>Precision / Recall / F1-score</a:t>
            </a:r>
          </a:p>
          <a:p>
            <a:pPr>
              <a:spcAft>
                <a:spcPts val="600"/>
              </a:spcAft>
              <a:defRPr sz="1500">
                <a:solidFill>
                  <a:srgbClr val="6B7280"/>
                </a:solidFill>
                <a:latin typeface="Calibri" panose="020F0502020204030204"/>
              </a:defRPr>
            </a:pPr>
            <a:r>
              <a:rPr sz="1800">
                <a:solidFill>
                  <a:schemeClr val="tx1"/>
                </a:solidFill>
              </a:rPr>
              <a:t>Per-class AP for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0147" y="1874519"/>
            <a:ext cx="5295747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0148" y="2446019"/>
            <a:ext cx="5295747" cy="64008"/>
          </a:xfrm>
          <a:prstGeom prst="rect">
            <a:avLst/>
          </a:prstGeom>
          <a:solidFill>
            <a:srgbClr val="A58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84467" y="2039111"/>
            <a:ext cx="474710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Calibri" panose="020F0502020204030204"/>
              </a:rPr>
              <a:t>Efficiency (on-device)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4467" y="2514599"/>
            <a:ext cx="4747107" cy="143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6B7280"/>
                </a:solidFill>
                <a:latin typeface="Calibri" panose="020F0502020204030204"/>
              </a:defRPr>
            </a:pPr>
            <a:r>
              <a:rPr sz="1800">
                <a:solidFill>
                  <a:schemeClr val="tx1"/>
                </a:solidFill>
              </a:rPr>
              <a:t>FPS and per-frame latency (ms)</a:t>
            </a:r>
          </a:p>
          <a:p>
            <a:pPr>
              <a:spcAft>
                <a:spcPts val="600"/>
              </a:spcAft>
              <a:defRPr sz="1500">
                <a:solidFill>
                  <a:srgbClr val="6B7280"/>
                </a:solidFill>
                <a:latin typeface="Calibri" panose="020F0502020204030204"/>
              </a:defRPr>
            </a:pPr>
            <a:r>
              <a:rPr sz="1800">
                <a:solidFill>
                  <a:schemeClr val="tx1"/>
                </a:solidFill>
              </a:rPr>
              <a:t>Model size &amp; memory footprint</a:t>
            </a:r>
          </a:p>
          <a:p>
            <a:pPr>
              <a:spcAft>
                <a:spcPts val="600"/>
              </a:spcAft>
              <a:defRPr sz="1500">
                <a:solidFill>
                  <a:srgbClr val="6B7280"/>
                </a:solidFill>
                <a:latin typeface="Calibri" panose="020F0502020204030204"/>
              </a:defRPr>
            </a:pPr>
            <a:r>
              <a:rPr sz="1800">
                <a:solidFill>
                  <a:schemeClr val="tx1"/>
                </a:solidFill>
              </a:rPr>
              <a:t>Quantization impact (FP → INT8)</a:t>
            </a:r>
          </a:p>
          <a:p>
            <a:pPr>
              <a:spcAft>
                <a:spcPts val="600"/>
              </a:spcAft>
              <a:defRPr sz="1500">
                <a:solidFill>
                  <a:srgbClr val="6B7280"/>
                </a:solidFill>
                <a:latin typeface="Calibri" panose="020F0502020204030204"/>
              </a:defRPr>
            </a:pPr>
            <a:r>
              <a:rPr sz="1800">
                <a:solidFill>
                  <a:schemeClr val="tx1"/>
                </a:solidFill>
              </a:rPr>
              <a:t>Thermal / power constraints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212080"/>
            <a:ext cx="43891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5330952"/>
            <a:ext cx="4023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937"/>
                </a:solidFill>
                <a:latin typeface="Calibri" panose="020F0502020204030204"/>
              </a:defRPr>
            </a:pPr>
            <a:r>
              <a:t>Latency (ms) ≈ 1000 / FPS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80" y="5212080"/>
            <a:ext cx="63093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94960" y="5330952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2937"/>
                </a:solidFill>
                <a:latin typeface="Calibri" panose="020F0502020204030204"/>
              </a:defRPr>
            </a:pPr>
            <a:r>
              <a:t>mAP@[0.5:0.95] averages IoU thresholds 0.50→0.95 (step 0.05)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46520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Calibri" panose="020F0502020204030204"/>
              </a:defRPr>
            </a:pPr>
            <a:r>
              <a:t>Ref: COCO-style evaluation protocol widely used for object detection.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 w="12700">
            <a:solidFill>
              <a:srgbClr val="F8F6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58D78"/>
          </a:solidFill>
          <a:ln w="12700">
            <a:solidFill>
              <a:srgbClr val="A58D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Background Literature: Detector Families for Driving Scenes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911535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compact view of the methods that motivate our model selection and edge deployment study.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637215" y="6446520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1/3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58368" y="1465619"/>
            <a:ext cx="340553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D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6"/>
          <p:cNvSpPr/>
          <p:nvPr/>
        </p:nvSpPr>
        <p:spPr>
          <a:xfrm>
            <a:off x="950976" y="1721651"/>
            <a:ext cx="1572768" cy="310896"/>
          </a:xfrm>
          <a:prstGeom prst="roundRect">
            <a:avLst/>
          </a:prstGeom>
          <a:solidFill>
            <a:srgbClr val="A58D78"/>
          </a:solidFill>
          <a:ln w="12700">
            <a:solidFill>
              <a:srgbClr val="A58D78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1115568" y="1767371"/>
            <a:ext cx="124358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One-stage CNN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950976" y="2151419"/>
            <a:ext cx="2820314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 family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969010" y="2608580"/>
            <a:ext cx="2783840" cy="129667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</a:t>
            </a:r>
            <a:r>
              <a:rPr lang="en-US" altLang="zh-CN" sz="1300" dirty="0"/>
              <a:t>Strong real-time baseline with     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altLang="zh-CN" sz="1300" dirty="0"/>
              <a:t>   mature tooling, but typically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altLang="zh-CN" sz="1300" dirty="0"/>
              <a:t>   relies on NMS.</a:t>
            </a:r>
          </a:p>
        </p:txBody>
      </p:sp>
      <p:sp>
        <p:nvSpPr>
          <p:cNvPr id="25" name="Shape 20"/>
          <p:cNvSpPr/>
          <p:nvPr/>
        </p:nvSpPr>
        <p:spPr>
          <a:xfrm>
            <a:off x="4393082" y="1456592"/>
            <a:ext cx="340553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D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1"/>
          <p:cNvSpPr/>
          <p:nvPr/>
        </p:nvSpPr>
        <p:spPr>
          <a:xfrm>
            <a:off x="4685690" y="1712624"/>
            <a:ext cx="1490472" cy="310896"/>
          </a:xfrm>
          <a:prstGeom prst="roundRect">
            <a:avLst/>
          </a:prstGeom>
          <a:solidFill>
            <a:srgbClr val="A58D78"/>
          </a:solidFill>
          <a:ln w="12700">
            <a:solidFill>
              <a:srgbClr val="A58D78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850282" y="1758344"/>
            <a:ext cx="1161288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Mobile-first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4685690" y="2142392"/>
            <a:ext cx="2820314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PP-PicoDet</a:t>
            </a:r>
            <a:endParaRPr lang="en-US" sz="1800" dirty="0"/>
          </a:p>
        </p:txBody>
      </p:sp>
      <p:sp>
        <p:nvSpPr>
          <p:cNvPr id="29" name="Text 24"/>
          <p:cNvSpPr/>
          <p:nvPr/>
        </p:nvSpPr>
        <p:spPr>
          <a:xfrm>
            <a:off x="4704080" y="2599690"/>
            <a:ext cx="2783840" cy="1082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</a:t>
            </a:r>
            <a:r>
              <a:rPr lang="en-US" altLang="zh-CN" sz="1300" dirty="0"/>
              <a:t>Designed for low-latency and small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altLang="zh-CN" sz="1300" dirty="0"/>
              <a:t>   models on ARM CPU—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altLang="zh-CN" sz="1300" dirty="0"/>
              <a:t>   our efficiency-first baseline.</a:t>
            </a:r>
          </a:p>
        </p:txBody>
      </p:sp>
      <p:sp>
        <p:nvSpPr>
          <p:cNvPr id="30" name="Shape 25"/>
          <p:cNvSpPr/>
          <p:nvPr/>
        </p:nvSpPr>
        <p:spPr>
          <a:xfrm>
            <a:off x="8146085" y="1456592"/>
            <a:ext cx="340553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D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6"/>
          <p:cNvSpPr/>
          <p:nvPr/>
        </p:nvSpPr>
        <p:spPr>
          <a:xfrm>
            <a:off x="8438693" y="1712624"/>
            <a:ext cx="1408176" cy="310896"/>
          </a:xfrm>
          <a:prstGeom prst="roundRect">
            <a:avLst/>
          </a:prstGeom>
          <a:solidFill>
            <a:srgbClr val="A58D78"/>
          </a:solidFill>
          <a:ln w="12700">
            <a:solidFill>
              <a:srgbClr val="A58D78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8603285" y="1758344"/>
            <a:ext cx="1078992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Transformer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8438693" y="2142392"/>
            <a:ext cx="2820314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DETR family</a:t>
            </a:r>
            <a:endParaRPr lang="en-US" sz="1800" dirty="0"/>
          </a:p>
        </p:txBody>
      </p:sp>
      <p:sp>
        <p:nvSpPr>
          <p:cNvPr id="34" name="Text 29"/>
          <p:cNvSpPr/>
          <p:nvPr/>
        </p:nvSpPr>
        <p:spPr>
          <a:xfrm>
            <a:off x="8456930" y="2599690"/>
            <a:ext cx="2783840" cy="102235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</a:t>
            </a:r>
            <a:r>
              <a:rPr lang="en-US" altLang="zh-CN" sz="1300" dirty="0"/>
              <a:t>End-to-end set prediction without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altLang="zh-CN" sz="1300" dirty="0"/>
              <a:t>   NMS, offering global reasoning and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altLang="zh-CN" sz="1300" dirty="0"/>
              <a:t>   a clean pipeline.</a:t>
            </a:r>
          </a:p>
        </p:txBody>
      </p:sp>
      <p:sp>
        <p:nvSpPr>
          <p:cNvPr id="35" name="Shape 30"/>
          <p:cNvSpPr/>
          <p:nvPr/>
        </p:nvSpPr>
        <p:spPr>
          <a:xfrm>
            <a:off x="640080" y="5047488"/>
            <a:ext cx="10911535" cy="822960"/>
          </a:xfrm>
          <a:prstGeom prst="roundRect">
            <a:avLst/>
          </a:prstGeom>
          <a:solidFill>
            <a:srgbClr val="F2EEE9"/>
          </a:solidFill>
          <a:ln w="12700">
            <a:solidFill>
              <a:srgbClr val="E7E2D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1"/>
          <p:cNvSpPr/>
          <p:nvPr/>
        </p:nvSpPr>
        <p:spPr>
          <a:xfrm>
            <a:off x="798830" y="5120386"/>
            <a:ext cx="5029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milestones (representative works)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960120" y="5431536"/>
            <a:ext cx="128016" cy="128016"/>
          </a:xfrm>
          <a:prstGeom prst="ellipse">
            <a:avLst/>
          </a:prstGeom>
          <a:solidFill>
            <a:srgbClr val="A58D78"/>
          </a:solidFill>
          <a:ln w="12700">
            <a:solidFill>
              <a:srgbClr val="A58D78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1124712" y="5349240"/>
            <a:ext cx="5943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2020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1124712" y="5550408"/>
            <a:ext cx="1825691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YOLOv4 (CNN real-time)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3014411" y="5431536"/>
            <a:ext cx="128016" cy="128016"/>
          </a:xfrm>
          <a:prstGeom prst="ellipse">
            <a:avLst/>
          </a:prstGeom>
          <a:solidFill>
            <a:srgbClr val="A58D78"/>
          </a:solidFill>
          <a:ln w="12700">
            <a:solidFill>
              <a:srgbClr val="A58D78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3179003" y="5349240"/>
            <a:ext cx="5943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2020</a:t>
            </a:r>
            <a:endParaRPr lang="en-US" sz="1100" dirty="0"/>
          </a:p>
        </p:txBody>
      </p:sp>
      <p:sp>
        <p:nvSpPr>
          <p:cNvPr id="42" name="Text 37"/>
          <p:cNvSpPr/>
          <p:nvPr/>
        </p:nvSpPr>
        <p:spPr>
          <a:xfrm>
            <a:off x="3179003" y="5550408"/>
            <a:ext cx="1825691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DETR (set prediction)</a:t>
            </a:r>
            <a:endParaRPr lang="en-US" sz="1100" dirty="0"/>
          </a:p>
        </p:txBody>
      </p:sp>
      <p:sp>
        <p:nvSpPr>
          <p:cNvPr id="43" name="Shape 38"/>
          <p:cNvSpPr/>
          <p:nvPr/>
        </p:nvSpPr>
        <p:spPr>
          <a:xfrm>
            <a:off x="5068702" y="5431536"/>
            <a:ext cx="128016" cy="128016"/>
          </a:xfrm>
          <a:prstGeom prst="ellipse">
            <a:avLst/>
          </a:prstGeom>
          <a:solidFill>
            <a:srgbClr val="A58D78"/>
          </a:solidFill>
          <a:ln w="12700">
            <a:solidFill>
              <a:srgbClr val="A58D78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5233294" y="5349240"/>
            <a:ext cx="5943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2021</a:t>
            </a:r>
            <a:endParaRPr lang="en-US" sz="1100" dirty="0"/>
          </a:p>
        </p:txBody>
      </p:sp>
      <p:sp>
        <p:nvSpPr>
          <p:cNvPr id="45" name="Text 40"/>
          <p:cNvSpPr/>
          <p:nvPr/>
        </p:nvSpPr>
        <p:spPr>
          <a:xfrm>
            <a:off x="5233294" y="5550408"/>
            <a:ext cx="1825691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Deformable DETR</a:t>
            </a:r>
            <a:endParaRPr lang="en-US" sz="1100" dirty="0"/>
          </a:p>
        </p:txBody>
      </p:sp>
      <p:sp>
        <p:nvSpPr>
          <p:cNvPr id="46" name="Shape 41"/>
          <p:cNvSpPr/>
          <p:nvPr/>
        </p:nvSpPr>
        <p:spPr>
          <a:xfrm>
            <a:off x="7122993" y="5431536"/>
            <a:ext cx="128016" cy="128016"/>
          </a:xfrm>
          <a:prstGeom prst="ellipse">
            <a:avLst/>
          </a:prstGeom>
          <a:solidFill>
            <a:srgbClr val="A58D78"/>
          </a:solidFill>
          <a:ln w="12700">
            <a:solidFill>
              <a:srgbClr val="A58D78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7287585" y="5349240"/>
            <a:ext cx="5943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2021</a:t>
            </a:r>
            <a:endParaRPr lang="en-US" sz="1100" dirty="0"/>
          </a:p>
        </p:txBody>
      </p:sp>
      <p:sp>
        <p:nvSpPr>
          <p:cNvPr id="48" name="Text 43"/>
          <p:cNvSpPr/>
          <p:nvPr/>
        </p:nvSpPr>
        <p:spPr>
          <a:xfrm>
            <a:off x="7287585" y="5550408"/>
            <a:ext cx="1825691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PP-PicoDet (mobile)</a:t>
            </a:r>
            <a:endParaRPr lang="en-US" sz="1100" dirty="0"/>
          </a:p>
        </p:txBody>
      </p:sp>
      <p:sp>
        <p:nvSpPr>
          <p:cNvPr id="49" name="Shape 44"/>
          <p:cNvSpPr/>
          <p:nvPr/>
        </p:nvSpPr>
        <p:spPr>
          <a:xfrm>
            <a:off x="9177284" y="5431536"/>
            <a:ext cx="128016" cy="128016"/>
          </a:xfrm>
          <a:prstGeom prst="ellipse">
            <a:avLst/>
          </a:prstGeom>
          <a:solidFill>
            <a:srgbClr val="A58D78"/>
          </a:solidFill>
          <a:ln w="12700">
            <a:solidFill>
              <a:srgbClr val="A58D78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9341876" y="5349240"/>
            <a:ext cx="5943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2024</a:t>
            </a:r>
            <a:endParaRPr lang="en-US" sz="1100" dirty="0"/>
          </a:p>
        </p:txBody>
      </p:sp>
      <p:sp>
        <p:nvSpPr>
          <p:cNvPr id="51" name="Text 46"/>
          <p:cNvSpPr/>
          <p:nvPr/>
        </p:nvSpPr>
        <p:spPr>
          <a:xfrm>
            <a:off x="9341876" y="5550408"/>
            <a:ext cx="1825691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RT-DETR (real-time)</a:t>
            </a:r>
            <a:endParaRPr lang="en-US" sz="1100" dirty="0"/>
          </a:p>
        </p:txBody>
      </p:sp>
      <p:sp>
        <p:nvSpPr>
          <p:cNvPr id="52" name="Shape 47"/>
          <p:cNvSpPr/>
          <p:nvPr/>
        </p:nvSpPr>
        <p:spPr>
          <a:xfrm>
            <a:off x="640080" y="6291072"/>
            <a:ext cx="10911535" cy="0"/>
          </a:xfrm>
          <a:prstGeom prst="line">
            <a:avLst/>
          </a:prstGeom>
          <a:noFill/>
          <a:ln w="12700">
            <a:solidFill>
              <a:srgbClr val="E7E2D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Text 48"/>
          <p:cNvSpPr/>
          <p:nvPr/>
        </p:nvSpPr>
        <p:spPr>
          <a:xfrm>
            <a:off x="640080" y="6355080"/>
            <a:ext cx="981425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Refs: Yu et al., BDD100K (CVPR 2020); Bochkovskiy et al., YOLOv4 (arXiv 2020); Carion et al., DETR (ECCV 2020); Zhu et al., Deformable DETR (ICLR 2021); Yu et al., PP-PicoDet (arXiv 2021); Zhao et al., RT-DETR (CVPR 2024).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 w="12700">
            <a:solidFill>
              <a:srgbClr val="F8F6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58D78"/>
          </a:solidFill>
          <a:ln w="12700">
            <a:solidFill>
              <a:srgbClr val="A58D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 Family: Efficient One-stage CNN Detectors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911535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YOLO-style models remain the standard baseline for real-time deployment.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637215" y="6446520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2/3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508760"/>
            <a:ext cx="56235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737360"/>
            <a:ext cx="4983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Typical pipeline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60120" y="2240280"/>
            <a:ext cx="86502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D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051560" y="2377440"/>
            <a:ext cx="682142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825142" y="2766060"/>
            <a:ext cx="164592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989734" y="2240280"/>
            <a:ext cx="86502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97506" y="2381359"/>
            <a:ext cx="849477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Backbone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854757" y="2766060"/>
            <a:ext cx="164592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019349" y="2240280"/>
            <a:ext cx="86502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10789" y="2381359"/>
            <a:ext cx="682142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Neck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84371" y="2766060"/>
            <a:ext cx="164592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048963" y="2240280"/>
            <a:ext cx="86502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40403" y="2381359"/>
            <a:ext cx="682142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13986" y="2766060"/>
            <a:ext cx="164592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078578" y="2240280"/>
            <a:ext cx="865022" cy="1051560"/>
          </a:xfrm>
          <a:prstGeom prst="roundRect">
            <a:avLst/>
          </a:prstGeom>
          <a:solidFill>
            <a:srgbClr val="F2EEE9"/>
          </a:solidFill>
          <a:ln w="12700">
            <a:solidFill>
              <a:srgbClr val="E7E2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70018" y="2382428"/>
            <a:ext cx="682142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NMS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60120" y="3474720"/>
            <a:ext cx="4983480" cy="1920240"/>
          </a:xfrm>
          <a:prstGeom prst="roundRect">
            <a:avLst/>
          </a:prstGeom>
          <a:solidFill>
            <a:srgbClr val="F2EEE9"/>
          </a:solidFill>
          <a:ln w="12700">
            <a:solidFill>
              <a:srgbClr val="E7E2D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1143000" y="3657600"/>
            <a:ext cx="4617720" cy="2377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Dense predictions at multiple feature scales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Backbone/neck designs target a speed–accuracy sweet spot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NMS resolves duplicate detections (bottleneck for some edge pipelines)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75120" y="1508760"/>
            <a:ext cx="4876495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D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6995160" y="1764792"/>
            <a:ext cx="2395728" cy="310896"/>
          </a:xfrm>
          <a:prstGeom prst="roundRect">
            <a:avLst/>
          </a:prstGeom>
          <a:solidFill>
            <a:srgbClr val="A58D78"/>
          </a:solidFill>
          <a:ln w="12700">
            <a:solidFill>
              <a:srgbClr val="A58D7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59752" y="1810512"/>
            <a:ext cx="206654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YOLO for real-time?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95160" y="2185416"/>
            <a:ext cx="4236415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ideas (representative)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95160" y="2468880"/>
            <a:ext cx="4236415" cy="2377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Unified one-stage design → fewer stages and higher FPS than two-stage detectors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Training “bag of freebies” + architectural modules (e.g., CSP, PAN) improve accuracy at constant cost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Open-source implementations provide scalable model sizes and robust exporters (ONNX/TFLite, etc.)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In practice, projects often fine-tune from public checkpoints (commonly COCO-pretrained) rather than training from scratch</a:t>
            </a:r>
          </a:p>
        </p:txBody>
      </p:sp>
      <p:sp>
        <p:nvSpPr>
          <p:cNvPr id="31" name="Shape 29"/>
          <p:cNvSpPr/>
          <p:nvPr/>
        </p:nvSpPr>
        <p:spPr>
          <a:xfrm>
            <a:off x="6995160" y="4846320"/>
            <a:ext cx="4236415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58D7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7150608" y="5010912"/>
            <a:ext cx="3925519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Takeaway: YOLO remains the most practical starting point for embedded real-time detection.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6291072"/>
            <a:ext cx="10911535" cy="0"/>
          </a:xfrm>
          <a:prstGeom prst="line">
            <a:avLst/>
          </a:prstGeom>
          <a:noFill/>
          <a:ln w="12700">
            <a:solidFill>
              <a:srgbClr val="E7E2D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6355080"/>
            <a:ext cx="981425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Refs: Bochkovskiy et al., YOLOv4 (arXiv 2020); Ultralytics YOLOv5/YOLOv8 documentation (model scaling &amp; pretrained checkpoints).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 w="12700">
            <a:solidFill>
              <a:srgbClr val="F8F6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58D78"/>
          </a:solidFill>
          <a:ln w="12700">
            <a:solidFill>
              <a:srgbClr val="A58D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PP-PicoDet &amp; RT-DETR: Two Alternative Directions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911535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Mobile-first CNN design vs. end-to-end Transformer detection.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637215" y="6446520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3/3</a:t>
            </a:r>
            <a:endParaRPr lang="en-US" sz="1000" dirty="0"/>
          </a:p>
        </p:txBody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640080" y="1508760"/>
            <a:ext cx="5250028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DC"/>
            </a:solidFill>
            <a:prstDash val="solid"/>
          </a:ln>
        </p:spPr>
      </p:sp>
      <p:sp>
        <p:nvSpPr>
          <p:cNvPr id="9" name="Shape 7"/>
          <p:cNvSpPr/>
          <p:nvPr>
            <p:custDataLst>
              <p:tags r:id="rId2"/>
            </p:custDataLst>
          </p:nvPr>
        </p:nvSpPr>
        <p:spPr>
          <a:xfrm>
            <a:off x="960120" y="1764792"/>
            <a:ext cx="2066544" cy="310896"/>
          </a:xfrm>
          <a:prstGeom prst="roundRect">
            <a:avLst/>
          </a:prstGeom>
          <a:solidFill>
            <a:srgbClr val="A58D78"/>
          </a:solidFill>
          <a:ln w="12700">
            <a:solidFill>
              <a:srgbClr val="A58D78"/>
            </a:solidFill>
            <a:prstDash val="solid"/>
          </a:ln>
        </p:spPr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1124712" y="1810512"/>
            <a:ext cx="17373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PP-PicoDet (Mobile)</a:t>
            </a:r>
            <a:endParaRPr lang="en-US" sz="1200" dirty="0"/>
          </a:p>
        </p:txBody>
      </p:sp>
      <p:sp>
        <p:nvSpPr>
          <p:cNvPr id="11" name="Text 9"/>
          <p:cNvSpPr/>
          <p:nvPr>
            <p:custDataLst>
              <p:tags r:id="rId4"/>
            </p:custDataLst>
          </p:nvPr>
        </p:nvSpPr>
        <p:spPr>
          <a:xfrm>
            <a:off x="960120" y="2185416"/>
            <a:ext cx="460994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 for mobile CPU latency</a:t>
            </a:r>
            <a:endParaRPr lang="en-US" sz="1600" dirty="0"/>
          </a:p>
        </p:txBody>
      </p:sp>
      <p:sp>
        <p:nvSpPr>
          <p:cNvPr id="12" name="Text 10"/>
          <p:cNvSpPr/>
          <p:nvPr>
            <p:custDataLst>
              <p:tags r:id="rId5"/>
            </p:custDataLst>
          </p:nvPr>
        </p:nvSpPr>
        <p:spPr>
          <a:xfrm>
            <a:off x="960120" y="2587752"/>
            <a:ext cx="4609948" cy="2377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Anchor-free strategy to reduce overhead and simplify tuning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Light backbone (ESNet) + lightweight CSP-PAN neck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Improved label assignment &amp; loss design for stable training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Strong speed–accuracy trade-off on ARM CPUs</a:t>
            </a:r>
          </a:p>
        </p:txBody>
      </p:sp>
      <p:sp>
        <p:nvSpPr>
          <p:cNvPr id="13" name="Shape 11"/>
          <p:cNvSpPr/>
          <p:nvPr>
            <p:custDataLst>
              <p:tags r:id="rId6"/>
            </p:custDataLst>
          </p:nvPr>
        </p:nvSpPr>
        <p:spPr>
          <a:xfrm>
            <a:off x="960120" y="4964811"/>
            <a:ext cx="4609948" cy="731520"/>
          </a:xfrm>
          <a:prstGeom prst="roundRect">
            <a:avLst/>
          </a:prstGeom>
          <a:solidFill>
            <a:srgbClr val="F2EEE9"/>
          </a:solidFill>
          <a:ln w="12700">
            <a:solidFill>
              <a:srgbClr val="E7E2DC"/>
            </a:solidFill>
            <a:prstDash val="solid"/>
          </a:ln>
        </p:spPr>
      </p:sp>
      <p:sp>
        <p:nvSpPr>
          <p:cNvPr id="14" name="Text 12"/>
          <p:cNvSpPr/>
          <p:nvPr>
            <p:custDataLst>
              <p:tags r:id="rId7"/>
            </p:custDataLst>
          </p:nvPr>
        </p:nvSpPr>
        <p:spPr>
          <a:xfrm>
            <a:off x="1115568" y="5136409"/>
            <a:ext cx="429905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we care: establishes a CPU-only baseline for embedded perception.</a:t>
            </a:r>
            <a:endParaRPr lang="en-US" sz="1300" dirty="0"/>
          </a:p>
        </p:txBody>
      </p:sp>
      <p:sp>
        <p:nvSpPr>
          <p:cNvPr id="15" name="Shape 13"/>
          <p:cNvSpPr/>
          <p:nvPr>
            <p:custDataLst>
              <p:tags r:id="rId8"/>
            </p:custDataLst>
          </p:nvPr>
        </p:nvSpPr>
        <p:spPr>
          <a:xfrm>
            <a:off x="6301588" y="1508760"/>
            <a:ext cx="5250028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DC"/>
            </a:solidFill>
            <a:prstDash val="solid"/>
          </a:ln>
        </p:spPr>
      </p:sp>
      <p:sp>
        <p:nvSpPr>
          <p:cNvPr id="16" name="Shape 14"/>
          <p:cNvSpPr/>
          <p:nvPr>
            <p:custDataLst>
              <p:tags r:id="rId9"/>
            </p:custDataLst>
          </p:nvPr>
        </p:nvSpPr>
        <p:spPr>
          <a:xfrm>
            <a:off x="6621628" y="1764792"/>
            <a:ext cx="2560320" cy="310896"/>
          </a:xfrm>
          <a:prstGeom prst="roundRect">
            <a:avLst/>
          </a:prstGeom>
          <a:solidFill>
            <a:srgbClr val="A58D78"/>
          </a:solidFill>
          <a:ln w="12700">
            <a:solidFill>
              <a:srgbClr val="A58D78"/>
            </a:solidFill>
            <a:prstDash val="solid"/>
          </a:ln>
        </p:spPr>
      </p:sp>
      <p:sp>
        <p:nvSpPr>
          <p:cNvPr id="17" name="Text 15"/>
          <p:cNvSpPr/>
          <p:nvPr>
            <p:custDataLst>
              <p:tags r:id="rId10"/>
            </p:custDataLst>
          </p:nvPr>
        </p:nvSpPr>
        <p:spPr>
          <a:xfrm>
            <a:off x="6786220" y="1810512"/>
            <a:ext cx="2231136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RT-DETR family (Transformer)</a:t>
            </a:r>
            <a:endParaRPr lang="en-US" sz="1200" dirty="0"/>
          </a:p>
        </p:txBody>
      </p:sp>
      <p:sp>
        <p:nvSpPr>
          <p:cNvPr id="18" name="Text 16"/>
          <p:cNvSpPr/>
          <p:nvPr>
            <p:custDataLst>
              <p:tags r:id="rId11"/>
            </p:custDataLst>
          </p:nvPr>
        </p:nvSpPr>
        <p:spPr>
          <a:xfrm>
            <a:off x="6621628" y="2185416"/>
            <a:ext cx="460994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set prediction</a:t>
            </a:r>
            <a:endParaRPr lang="en-US" sz="1600" dirty="0"/>
          </a:p>
        </p:txBody>
      </p:sp>
      <p:sp>
        <p:nvSpPr>
          <p:cNvPr id="19" name="Text 17"/>
          <p:cNvSpPr/>
          <p:nvPr>
            <p:custDataLst>
              <p:tags r:id="rId12"/>
            </p:custDataLst>
          </p:nvPr>
        </p:nvSpPr>
        <p:spPr>
          <a:xfrm>
            <a:off x="6621780" y="2587625"/>
            <a:ext cx="4792345" cy="2377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Uses object queries + bipartite matching → no NMS required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Original DETR: strong concept, but slow convergence and heavy compute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Deformable DETR: sparse attention improves convergence &amp; small-object performance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RT-DETR: aims for real-time speed while keeping end-to-end detection</a:t>
            </a:r>
          </a:p>
        </p:txBody>
      </p:sp>
      <p:sp>
        <p:nvSpPr>
          <p:cNvPr id="20" name="Shape 18"/>
          <p:cNvSpPr/>
          <p:nvPr>
            <p:custDataLst>
              <p:tags r:id="rId13"/>
            </p:custDataLst>
          </p:nvPr>
        </p:nvSpPr>
        <p:spPr>
          <a:xfrm>
            <a:off x="6621628" y="4964811"/>
            <a:ext cx="4609948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58D7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>
            <p:custDataLst>
              <p:tags r:id="rId14"/>
            </p:custDataLst>
          </p:nvPr>
        </p:nvSpPr>
        <p:spPr>
          <a:xfrm>
            <a:off x="6777076" y="5129403"/>
            <a:ext cx="429905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we care: compares CNN vs Transformer behavior on driving-domain data and edge constraints.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6291072"/>
            <a:ext cx="10911535" cy="0"/>
          </a:xfrm>
          <a:prstGeom prst="line">
            <a:avLst/>
          </a:prstGeom>
          <a:noFill/>
          <a:ln w="12700">
            <a:solidFill>
              <a:srgbClr val="E7E2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6355080"/>
            <a:ext cx="981425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Refs: Yu et al., PP-PicoDet (arXiv 2021); Carion et al., DETR (ECCV 2020); Zhu et al., Deformable DETR (ICLR 2021); Zhao et al., RT-DETR (CVPR 2024).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 w="12700">
            <a:solidFill>
              <a:srgbClr val="F8F6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58D78"/>
          </a:solidFill>
          <a:ln w="12700">
            <a:solidFill>
              <a:srgbClr val="A58D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1091153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 Learning Workflow</a:t>
            </a:r>
            <a:endParaRPr lang="en-US" alt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911535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BDD100K - Multi-model Training - ONNX - Deploy - Evaluate</a:t>
            </a:r>
          </a:p>
        </p:txBody>
      </p:sp>
      <p:sp>
        <p:nvSpPr>
          <p:cNvPr id="7" name="Text 5"/>
          <p:cNvSpPr/>
          <p:nvPr/>
        </p:nvSpPr>
        <p:spPr>
          <a:xfrm>
            <a:off x="10637215" y="6446520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3/3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6291072"/>
            <a:ext cx="10911535" cy="0"/>
          </a:xfrm>
          <a:prstGeom prst="line">
            <a:avLst/>
          </a:prstGeom>
          <a:noFill/>
          <a:ln w="12700">
            <a:solidFill>
              <a:srgbClr val="E7E2DC"/>
            </a:solidFill>
            <a:prstDash val="solid"/>
          </a:ln>
        </p:spPr>
      </p:sp>
      <p:pic>
        <p:nvPicPr>
          <p:cNvPr id="24" name="图片 23" descr="联想截图_20260104222231"/>
          <p:cNvPicPr>
            <a:picLocks noChangeAspect="1"/>
          </p:cNvPicPr>
          <p:nvPr/>
        </p:nvPicPr>
        <p:blipFill>
          <a:blip r:embed="rId3"/>
          <a:srcRect t="9963"/>
          <a:stretch>
            <a:fillRect/>
          </a:stretch>
        </p:blipFill>
        <p:spPr>
          <a:xfrm>
            <a:off x="544195" y="1277620"/>
            <a:ext cx="11007725" cy="48679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 w="12700">
            <a:solidFill>
              <a:srgbClr val="F8F6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YOLOv8n Training Summary (BDD100K)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75488" y="804672"/>
            <a:ext cx="11247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Experiments v8n1 → v8n4 | Validation set: 10,000 images | 10 classes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17933" y="1161288"/>
            <a:ext cx="754380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5" name="Image 0" descr="/mnt/data/yolov8n_one_slide_cha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1" y="1616498"/>
            <a:ext cx="7296912" cy="433823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96427" y="1152144"/>
            <a:ext cx="397764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8156447" y="1474109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metrics (best row highlighted)</a:t>
            </a:r>
            <a:endParaRPr lang="en-US" sz="1600" dirty="0"/>
          </a:p>
        </p:txBody>
      </p:sp>
      <p:pic>
        <p:nvPicPr>
          <p:cNvPr id="8" name="Image 1" descr="/mnt/data/yolov8n_one_slide_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1" y="1638434"/>
            <a:ext cx="3822192" cy="12677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179307" y="3072384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Takeaways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179307" y="3346704"/>
            <a:ext cx="3749040" cy="2697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accuracy: v8n3 (imgsz=800) → mAP@0.5 = 0.503 (+0.117 vs v8n1).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Refinement (v8n3-1): Precision ↑ but mAP did not improve (slightly lower).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640-long training (v8n4) is stable but has lower ceiling for small objects.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 class AP is nearly 0 due to extreme long-tail (15 instances in </a:t>
            </a:r>
            <a:r>
              <a:rPr lang="en-US" sz="1400" dirty="0" err="1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</a:t>
            </a:r>
            <a:r>
              <a:rPr lang="en-US" sz="14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).</a:t>
            </a:r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/>
              <a:t>Use higher LR to adapt quickly, then lower LR and tune augmentation to keep recall.</a:t>
            </a:r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endParaRPr lang="en-US" sz="1400" dirty="0"/>
          </a:p>
        </p:txBody>
      </p:sp>
      <p:sp>
        <p:nvSpPr>
          <p:cNvPr id="12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58D78"/>
          </a:solidFill>
          <a:ln w="12700">
            <a:solidFill>
              <a:srgbClr val="A58D78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9" y="0"/>
            <a:ext cx="12184601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3200" b="1" dirty="0" err="1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Picodet</a:t>
            </a:r>
            <a:r>
              <a:rPr lang="en-US" sz="32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-s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Training Summary (BDD100K)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804672"/>
            <a:ext cx="11247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Experiments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picodet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-s | Validation set: 10,000 images | 10 classes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17933" y="1161288"/>
            <a:ext cx="754380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996427" y="1152144"/>
            <a:ext cx="397764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Text 5"/>
          <p:cNvSpPr/>
          <p:nvPr/>
        </p:nvSpPr>
        <p:spPr>
          <a:xfrm>
            <a:off x="8179307" y="150887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Takeaways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6"/>
          <p:cNvSpPr/>
          <p:nvPr/>
        </p:nvSpPr>
        <p:spPr>
          <a:xfrm>
            <a:off x="8179307" y="1828457"/>
            <a:ext cx="3657600" cy="4407243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03200" lvl="0" indent="-203200">
              <a:spcAft>
                <a:spcPts val="600"/>
              </a:spcAft>
              <a:buSzPct val="100000"/>
              <a:buFontTx/>
              <a:buChar char="•"/>
              <a:defRPr/>
            </a:pPr>
            <a:r>
              <a:rPr lang="en-US" sz="1400" dirty="0">
                <a:solidFill>
                  <a:prstClr val="black"/>
                </a:solidFill>
              </a:rPr>
              <a:t>Best AP50:95 = 0.217 @ epoch 260 (416×416), AP50 = 0.395; performance plateaus after ~200 epochs.</a:t>
            </a:r>
          </a:p>
          <a:p>
            <a:pPr marL="203200" lvl="0" indent="-203200">
              <a:spcAft>
                <a:spcPts val="600"/>
              </a:spcAft>
              <a:buSzPct val="100000"/>
              <a:buFontTx/>
              <a:buChar char="•"/>
              <a:defRPr/>
            </a:pPr>
            <a:r>
              <a:rPr lang="en-US" sz="1400" dirty="0">
                <a:solidFill>
                  <a:prstClr val="black"/>
                </a:solidFill>
              </a:rPr>
              <a:t>Strong scale gap: </a:t>
            </a:r>
            <a:r>
              <a:rPr lang="en-US" sz="1400" dirty="0" err="1">
                <a:solidFill>
                  <a:prstClr val="black"/>
                </a:solidFill>
              </a:rPr>
              <a:t>AP_small</a:t>
            </a:r>
            <a:r>
              <a:rPr lang="en-US" sz="1400" dirty="0">
                <a:solidFill>
                  <a:prstClr val="black"/>
                </a:solidFill>
              </a:rPr>
              <a:t> ≈ 0.049 vs </a:t>
            </a:r>
            <a:r>
              <a:rPr lang="en-US" sz="1400" dirty="0" err="1">
                <a:solidFill>
                  <a:prstClr val="black"/>
                </a:solidFill>
              </a:rPr>
              <a:t>AP_large</a:t>
            </a:r>
            <a:r>
              <a:rPr lang="en-US" sz="1400" dirty="0">
                <a:solidFill>
                  <a:prstClr val="black"/>
                </a:solidFill>
              </a:rPr>
              <a:t> ≈ 0.500, indicating 416 resolution bottlenecks small objects on BDD100K.</a:t>
            </a:r>
          </a:p>
          <a:p>
            <a:pPr marL="203200" lvl="0" indent="-203200">
              <a:spcAft>
                <a:spcPts val="600"/>
              </a:spcAft>
              <a:buSzPct val="100000"/>
              <a:buFontTx/>
              <a:buChar char="•"/>
              <a:defRPr/>
            </a:pPr>
            <a:r>
              <a:rPr lang="en-US" sz="1400" dirty="0">
                <a:solidFill>
                  <a:prstClr val="black"/>
                </a:solidFill>
              </a:rPr>
              <a:t>Training is stable with regular eval every 10 epochs; late-stage gains are marginal, suggesting diminishing returns without resolution/architecture changes.</a:t>
            </a:r>
          </a:p>
          <a:p>
            <a:pPr marL="203200" lvl="0" indent="-203200">
              <a:spcAft>
                <a:spcPts val="600"/>
              </a:spcAft>
              <a:buSzPct val="100000"/>
              <a:buFontTx/>
              <a:buChar char="•"/>
              <a:defRPr/>
            </a:pPr>
            <a:r>
              <a:rPr lang="en-US" sz="1400" dirty="0">
                <a:solidFill>
                  <a:prstClr val="black"/>
                </a:solidFill>
              </a:rPr>
              <a:t>Successfully exported Paddle inference model + ONNX (picodet_416.onnx) for deployment.</a:t>
            </a:r>
          </a:p>
          <a:p>
            <a:pPr marL="203200" lvl="0" indent="-203200">
              <a:spcAft>
                <a:spcPts val="600"/>
              </a:spcAft>
              <a:buSzPct val="100000"/>
              <a:buFontTx/>
              <a:buChar char="•"/>
              <a:defRPr/>
            </a:pPr>
            <a:r>
              <a:rPr lang="en-US" altLang="zh-CN" sz="1400" dirty="0"/>
              <a:t>Size–accuracy tradeoff (CPU models): </a:t>
            </a:r>
            <a:r>
              <a:rPr lang="en-US" altLang="zh-CN" sz="1400" dirty="0" err="1"/>
              <a:t>PicoDet</a:t>
            </a:r>
            <a:r>
              <a:rPr lang="en-US" altLang="zh-CN" sz="1400" dirty="0"/>
              <a:t>-S is ~39% of YOLOv8n3’s ONNX size (4.65MB vs 11.79MB) while reaching ~78% of its accuracy (mAP50-95: 0.217 vs 0.279; similarly mAP50: 0.395 vs 0.503 → ~79%).</a:t>
            </a:r>
            <a:endParaRPr kumimoji="0" lang="en-US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rcRect l="4506" t="5278" r="857"/>
          <a:stretch>
            <a:fillRect/>
          </a:stretch>
        </p:blipFill>
        <p:spPr>
          <a:xfrm>
            <a:off x="1199007" y="1266235"/>
            <a:ext cx="5581651" cy="5121103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58D78"/>
          </a:solidFill>
          <a:ln w="12700">
            <a:solidFill>
              <a:srgbClr val="A58D78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9" y="0"/>
            <a:ext cx="12184601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YOLOv8</a:t>
            </a:r>
            <a:r>
              <a:rPr lang="en-US" altLang="zh-CN" sz="32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</a:t>
            </a:r>
            <a:r>
              <a:rPr lang="en-US" sz="32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Training Summary (BDD100K)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75488" y="804672"/>
            <a:ext cx="11247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Experiments v8s1 → v8s4-2 | Validation set: 10,000 images | 10 classes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17933" y="1161288"/>
            <a:ext cx="754380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3"/>
          <p:cNvSpPr/>
          <p:nvPr/>
        </p:nvSpPr>
        <p:spPr>
          <a:xfrm>
            <a:off x="7996427" y="1152144"/>
            <a:ext cx="397764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8156447" y="1474109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metrics (best row highlighted)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179307" y="304557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Takeaways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179307" y="3319893"/>
            <a:ext cx="3657600" cy="251089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altLang="zh-CN" sz="1400" dirty="0"/>
              <a:t>Best accuracy: v8s4-2 (</a:t>
            </a:r>
            <a:r>
              <a:rPr lang="en-US" altLang="zh-CN" sz="1400" dirty="0" err="1"/>
              <a:t>imgsz</a:t>
            </a:r>
            <a:r>
              <a:rPr lang="en-US" altLang="zh-CN" sz="1400" dirty="0"/>
              <a:t>=1024) → mAP@0.5 = 0.596 (+0.117 vs v8s1).</a:t>
            </a:r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altLang="zh-CN" sz="1400" dirty="0"/>
              <a:t>Resolution helps: 640 → 800 → 1024 generally improves </a:t>
            </a:r>
            <a:r>
              <a:rPr lang="en-US" altLang="zh-CN" sz="1400" dirty="0" err="1"/>
              <a:t>mAP</a:t>
            </a:r>
            <a:r>
              <a:rPr lang="en-US" altLang="zh-CN" sz="1400" dirty="0"/>
              <a:t>, indicating small-object sensitivity.</a:t>
            </a:r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altLang="zh-CN" sz="1400" dirty="0"/>
              <a:t>Long training at 640: stable curves but lower ceiling vs higher-resolution training.</a:t>
            </a:r>
            <a:r>
              <a:rPr lang="en-US" altLang="zh-CN" sz="1400" b="1" dirty="0"/>
              <a:t> </a:t>
            </a:r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altLang="zh-CN" sz="1400" dirty="0"/>
              <a:t>Closing Mosaic and using conservative SGD stabilized localization and slightly improved mAP@0.5:0.95.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291" y="1638434"/>
            <a:ext cx="7276882" cy="432843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rcRect l="1885" t="5271" r="1528" b="4667"/>
          <a:stretch>
            <a:fillRect/>
          </a:stretch>
        </p:blipFill>
        <p:spPr>
          <a:xfrm>
            <a:off x="8246533" y="1803399"/>
            <a:ext cx="3443818" cy="1144589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58D78"/>
          </a:solidFill>
          <a:ln w="12700">
            <a:solidFill>
              <a:srgbClr val="A58D78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9" y="0"/>
            <a:ext cx="12184601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YOLOv8m Training Summary (BDD100K)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75488" y="804672"/>
            <a:ext cx="11247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Experiments v8m1 → v8m2-1 | Validation set: 10,000 images | 10 classes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17933" y="1161288"/>
            <a:ext cx="754380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3"/>
          <p:cNvSpPr/>
          <p:nvPr/>
        </p:nvSpPr>
        <p:spPr>
          <a:xfrm>
            <a:off x="7996427" y="1152144"/>
            <a:ext cx="397764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Text 5"/>
          <p:cNvSpPr/>
          <p:nvPr/>
        </p:nvSpPr>
        <p:spPr>
          <a:xfrm>
            <a:off x="8179307" y="150887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Takeaways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179307" y="1828457"/>
            <a:ext cx="3657600" cy="4407243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altLang="zh-CN" sz="1400" dirty="0"/>
              <a:t>Best accuracy: v8m2 </a:t>
            </a:r>
            <a:r>
              <a:rPr lang="en-US" altLang="zh-CN" sz="1400" i="1" dirty="0"/>
              <a:t>(</a:t>
            </a:r>
            <a:r>
              <a:rPr lang="en-US" altLang="zh-CN" sz="1400" i="1" dirty="0" err="1"/>
              <a:t>imgsz</a:t>
            </a:r>
            <a:r>
              <a:rPr lang="en-US" altLang="zh-CN" sz="1400" i="1" dirty="0"/>
              <a:t>=1280)</a:t>
            </a:r>
            <a:r>
              <a:rPr lang="en-US" altLang="zh-CN" sz="1400" dirty="0"/>
              <a:t> → mAP@0.5 = 0.633 (+0.053 vs v8m1); mAP@0.5:0.95 = 0.374 (+0.042).</a:t>
            </a:r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altLang="zh-CN" sz="1400" dirty="0"/>
              <a:t>Resolution helps: 640 → 1280 noticeably lifts Recall and overall </a:t>
            </a:r>
            <a:r>
              <a:rPr lang="en-US" altLang="zh-CN" sz="1400" dirty="0" err="1"/>
              <a:t>mAP</a:t>
            </a:r>
            <a:r>
              <a:rPr lang="en-US" altLang="zh-CN" sz="1400" dirty="0"/>
              <a:t>, consistent with better small/medium-object sensitivity.</a:t>
            </a:r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altLang="zh-CN" sz="1400" dirty="0"/>
              <a:t>Biggest per-class gains (v8m1 → v8m2): motor +0.079, bike +0.067, rider +0.060, bus/truck +0.058, person +0.056 (AP@0.5).</a:t>
            </a:r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altLang="zh-CN" sz="1400" dirty="0"/>
              <a:t>Refinement run: v8m2-1 (continued from v8m2) → </a:t>
            </a:r>
            <a:r>
              <a:rPr lang="en-US" altLang="zh-CN" sz="1400" dirty="0" err="1"/>
              <a:t>mAP</a:t>
            </a:r>
            <a:r>
              <a:rPr lang="en-US" altLang="zh-CN" sz="1400" dirty="0"/>
              <a:t> plateaus/slightly drops </a:t>
            </a:r>
            <a:r>
              <a:rPr lang="en-US" altLang="zh-CN" sz="1400" i="1" dirty="0"/>
              <a:t>(0.630 vs 0.633)</a:t>
            </a:r>
            <a:r>
              <a:rPr lang="en-US" altLang="zh-CN" sz="1400" dirty="0"/>
              <a:t> and Precision drops </a:t>
            </a:r>
            <a:r>
              <a:rPr lang="en-US" altLang="zh-CN" sz="1400" i="1" dirty="0"/>
              <a:t>(0.769 → 0.673)</a:t>
            </a:r>
            <a:r>
              <a:rPr lang="en-US" altLang="zh-CN" sz="1400" dirty="0"/>
              <a:t>.</a:t>
            </a:r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altLang="zh-CN" sz="1400" dirty="0"/>
              <a:t>Train class AP remains unreliable/low: caused by extreme long-tail </a:t>
            </a:r>
            <a:r>
              <a:rPr lang="en-US" altLang="zh-CN" sz="1400" i="1" dirty="0"/>
              <a:t>(~15 </a:t>
            </a:r>
            <a:r>
              <a:rPr lang="en-US" altLang="zh-CN" sz="1400" i="1" dirty="0" err="1"/>
              <a:t>val</a:t>
            </a:r>
            <a:r>
              <a:rPr lang="en-US" altLang="zh-CN" sz="1400" i="1" dirty="0"/>
              <a:t> instances)</a:t>
            </a:r>
            <a:r>
              <a:rPr lang="en-US" altLang="zh-CN" sz="1400" dirty="0"/>
              <a:t>, not by epochs.</a:t>
            </a:r>
            <a:endParaRPr lang="en-US" sz="1400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388" y="1363291"/>
            <a:ext cx="6848889" cy="4690037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58D78"/>
          </a:solidFill>
          <a:ln w="12700">
            <a:solidFill>
              <a:srgbClr val="A58D78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9" y="0"/>
            <a:ext cx="12184601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YOLOv5s Training Summary (BDD100K)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75488" y="804672"/>
            <a:ext cx="11247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Experiments v5s  v5s_cstr | Validation set: 10,000 images | 10 classes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17933" y="1161288"/>
            <a:ext cx="754380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3"/>
          <p:cNvSpPr/>
          <p:nvPr/>
        </p:nvSpPr>
        <p:spPr>
          <a:xfrm>
            <a:off x="7996427" y="1152144"/>
            <a:ext cx="397764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Text 5"/>
          <p:cNvSpPr/>
          <p:nvPr/>
        </p:nvSpPr>
        <p:spPr>
          <a:xfrm>
            <a:off x="8179307" y="150887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Takeaways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179307" y="1828457"/>
            <a:ext cx="3657600" cy="4407243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altLang="zh-CN" sz="1400" dirty="0"/>
              <a:t>Accuracy: YOLOv5s_C3TR is very close to YOLOv5s on the same dataset/resolution; improvements are marginal.</a:t>
            </a:r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altLang="zh-CN" sz="1400" dirty="0"/>
              <a:t>P–R balance: C3TR may slightly shift Precision/Recall, but mAP@0.5 and mAP@0.5:0.95 stay similar, so net gain is limited.</a:t>
            </a:r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altLang="zh-CN" sz="1400" dirty="0"/>
              <a:t>Footprint: Same size (~14.7 MB) and nearly same params (~7.04M); C3TR adds a few layers (157 → 162).</a:t>
            </a:r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altLang="zh-CN" sz="1400" dirty="0"/>
              <a:t>Compute: GFLOPs are effectively unchanged (15.8 → 15.6), so inference cost stays stable.</a:t>
            </a:r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altLang="zh-CN" sz="1400" dirty="0"/>
              <a:t>Takeaway: C3TR is a safe drop-in, but not a big accuracy lever—tuning resolution/data/training is likely more impactful.</a:t>
            </a:r>
            <a:endParaRPr lang="en-US" sz="14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1508872"/>
            <a:ext cx="6975006" cy="4614687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58D78"/>
          </a:solidFill>
          <a:ln w="12700">
            <a:solidFill>
              <a:srgbClr val="A58D78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9" y="0"/>
            <a:ext cx="12184601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CN" sz="32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RT-DETR</a:t>
            </a:r>
            <a:r>
              <a:rPr lang="en-US" sz="32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Training Summary (BDD100K)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75488" y="804672"/>
            <a:ext cx="11247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Experiments rt-</a:t>
            </a:r>
            <a:r>
              <a:rPr lang="en-US" sz="1400" dirty="0" err="1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detr_l</a:t>
            </a:r>
            <a:r>
              <a:rPr lang="en-US" sz="14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rt-detr_v8s | Validation set: 10,000 images | 10 classes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17933" y="1161288"/>
            <a:ext cx="754380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3"/>
          <p:cNvSpPr/>
          <p:nvPr/>
        </p:nvSpPr>
        <p:spPr>
          <a:xfrm>
            <a:off x="7996427" y="1152144"/>
            <a:ext cx="397764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Text 5"/>
          <p:cNvSpPr/>
          <p:nvPr/>
        </p:nvSpPr>
        <p:spPr>
          <a:xfrm>
            <a:off x="8179307" y="150887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Takeaways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179307" y="1828457"/>
            <a:ext cx="3657600" cy="4407243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>
              <a:spcAft>
                <a:spcPts val="600"/>
              </a:spcAft>
              <a:buSzPct val="100000"/>
            </a:pPr>
            <a:r>
              <a:rPr lang="en-US" sz="1400" dirty="0"/>
              <a:t>A) RT-DETR-L: 960 vs 1280</a:t>
            </a:r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/>
              <a:t>1280 &gt; 960 in </a:t>
            </a:r>
            <a:r>
              <a:rPr lang="en-US" sz="1400" dirty="0" err="1"/>
              <a:t>mAP</a:t>
            </a:r>
            <a:r>
              <a:rPr lang="en-US" sz="1400" dirty="0"/>
              <a:t>, mainly from higher Recall (better small-object coverage).</a:t>
            </a:r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/>
              <a:t>Latency increases at 1280 due to larger input, while params/compute stay similar.</a:t>
            </a:r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/>
              <a:t>Train AP stays ~0 from extreme long-tail (≈15 </a:t>
            </a:r>
            <a:r>
              <a:rPr lang="en-US" sz="1400" dirty="0" err="1"/>
              <a:t>val</a:t>
            </a:r>
            <a:r>
              <a:rPr lang="en-US" sz="1400" dirty="0"/>
              <a:t> instances), not epochs.</a:t>
            </a:r>
          </a:p>
          <a:p>
            <a:pPr>
              <a:spcAft>
                <a:spcPts val="600"/>
              </a:spcAft>
              <a:buSzPct val="100000"/>
            </a:pPr>
            <a:endParaRPr lang="en-US" sz="1400" dirty="0"/>
          </a:p>
          <a:p>
            <a:pPr>
              <a:spcAft>
                <a:spcPts val="600"/>
              </a:spcAft>
              <a:buSzPct val="100000"/>
            </a:pPr>
            <a:r>
              <a:rPr lang="en-US" sz="1400" dirty="0"/>
              <a:t>B) RTDETR-v8s (custom): v1 vs v2</a:t>
            </a:r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/>
              <a:t>v1 failed: early stop (~20e) + mismatched recipe → Recall collapse.</a:t>
            </a:r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/>
              <a:t>v2 converged: </a:t>
            </a:r>
            <a:r>
              <a:rPr lang="en-US" sz="1400" dirty="0" err="1"/>
              <a:t>AdamW</a:t>
            </a:r>
            <a:r>
              <a:rPr lang="en-US" sz="1400" dirty="0"/>
              <a:t> + much lower LR + ~100e → large </a:t>
            </a:r>
            <a:r>
              <a:rPr lang="en-US" sz="1400" dirty="0" err="1"/>
              <a:t>mAP</a:t>
            </a:r>
            <a:r>
              <a:rPr lang="en-US" sz="1400" dirty="0"/>
              <a:t>/Recall jump at v8s-scale.</a:t>
            </a:r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/>
              <a:t>C3TR makes optimization more sensitive; SGD can be unstable. </a:t>
            </a:r>
            <a:r>
              <a:rPr lang="en-US" sz="1400" dirty="0" err="1"/>
              <a:t>AdamW’s</a:t>
            </a:r>
            <a:r>
              <a:rPr lang="en-US" sz="1400" dirty="0"/>
              <a:t> adaptive updates and decoupled weight decay improve stability, so training converges.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888" y="1604010"/>
            <a:ext cx="7221764" cy="42570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58D78"/>
          </a:solidFill>
          <a:ln w="12700">
            <a:solidFill>
              <a:srgbClr val="A58D78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9" y="0"/>
            <a:ext cx="12184601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lvl="0">
              <a:defRPr/>
            </a:pPr>
            <a:r>
              <a:rPr lang="en-US" sz="32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Comparison — Accuracy vs Efficiency (BDD100K </a:t>
            </a:r>
            <a:r>
              <a:rPr lang="en-US" sz="3200" b="1" dirty="0" err="1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</a:t>
            </a:r>
            <a:r>
              <a:rPr lang="en-US" sz="32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)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804672"/>
            <a:ext cx="11247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Experiments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model</a:t>
            </a:r>
            <a:r>
              <a:rPr lang="en-US" altLang="zh-CN" sz="14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 trained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| Validation set: 10,000 images | 10 classes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17933" y="1161288"/>
            <a:ext cx="754380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996427" y="1152144"/>
            <a:ext cx="397764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Text 5"/>
          <p:cNvSpPr/>
          <p:nvPr/>
        </p:nvSpPr>
        <p:spPr>
          <a:xfrm>
            <a:off x="8179307" y="289668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Takeaways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6"/>
          <p:cNvSpPr/>
          <p:nvPr/>
        </p:nvSpPr>
        <p:spPr>
          <a:xfrm>
            <a:off x="8179307" y="3171000"/>
            <a:ext cx="3657600" cy="3126971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03200" lvl="0" indent="-203200">
              <a:spcAft>
                <a:spcPts val="600"/>
              </a:spcAft>
              <a:buSzPct val="100000"/>
              <a:buFontTx/>
              <a:buChar char="•"/>
              <a:defRPr/>
            </a:pPr>
            <a:r>
              <a:rPr lang="en-US" sz="1200" dirty="0">
                <a:solidFill>
                  <a:prstClr val="black"/>
                </a:solidFill>
              </a:rPr>
              <a:t>Best accuracy: v8m2 achieves the highest </a:t>
            </a:r>
            <a:r>
              <a:rPr lang="en-US" sz="1200" dirty="0" err="1">
                <a:solidFill>
                  <a:prstClr val="black"/>
                </a:solidFill>
              </a:rPr>
              <a:t>mAP</a:t>
            </a:r>
            <a:r>
              <a:rPr lang="en-US" sz="1200" dirty="0">
                <a:solidFill>
                  <a:prstClr val="black"/>
                </a:solidFill>
              </a:rPr>
              <a:t> (0.633 / 0.374) but with a large ONNX (98.68MB).</a:t>
            </a:r>
          </a:p>
          <a:p>
            <a:pPr marL="203200" lvl="0" indent="-203200">
              <a:spcAft>
                <a:spcPts val="600"/>
              </a:spcAft>
              <a:buSzPct val="100000"/>
              <a:buFontTx/>
              <a:buChar char="•"/>
              <a:defRPr/>
            </a:pPr>
            <a:r>
              <a:rPr lang="en-US" sz="1200" dirty="0">
                <a:solidFill>
                  <a:prstClr val="black"/>
                </a:solidFill>
              </a:rPr>
              <a:t>Best “balanced” YOLO: v8s4-2 reaches 0.596 / 0.341 at 42.52MB, offering strong generalization without going to v8m-scale.</a:t>
            </a:r>
          </a:p>
          <a:p>
            <a:pPr marL="203200" lvl="0" indent="-203200">
              <a:spcAft>
                <a:spcPts val="600"/>
              </a:spcAft>
              <a:buSzPct val="100000"/>
              <a:buFontTx/>
              <a:buChar char="•"/>
              <a:defRPr/>
            </a:pPr>
            <a:r>
              <a:rPr lang="en-US" sz="1200" dirty="0">
                <a:solidFill>
                  <a:prstClr val="black"/>
                </a:solidFill>
              </a:rPr>
              <a:t>Small/CPU tier: </a:t>
            </a:r>
            <a:r>
              <a:rPr lang="en-US" sz="1200" dirty="0" err="1">
                <a:solidFill>
                  <a:prstClr val="black"/>
                </a:solidFill>
              </a:rPr>
              <a:t>PicoDet</a:t>
            </a:r>
            <a:r>
              <a:rPr lang="en-US" sz="1200" dirty="0">
                <a:solidFill>
                  <a:prstClr val="black"/>
                </a:solidFill>
              </a:rPr>
              <a:t>-S (4.65MB) delivers ~78% of v8n3’s mAP@0.5 (0.395 vs 0.503) at ~39% of the ONNX size, but has a lower ceiling for peak accuracy.</a:t>
            </a:r>
          </a:p>
          <a:p>
            <a:pPr marL="203200" lvl="0" indent="-203200">
              <a:spcAft>
                <a:spcPts val="600"/>
              </a:spcAft>
              <a:buSzPct val="100000"/>
              <a:buFontTx/>
              <a:buChar char="•"/>
              <a:defRPr/>
            </a:pPr>
            <a:r>
              <a:rPr lang="en-US" sz="1200" dirty="0">
                <a:solidFill>
                  <a:prstClr val="black"/>
                </a:solidFill>
              </a:rPr>
              <a:t>C3TR impact is marginal: v5s_c3tr is slightly worse than v5s while being similar in size → not a clear win in this setup.</a:t>
            </a:r>
          </a:p>
          <a:p>
            <a:pPr marL="203200" lvl="0" indent="-203200">
              <a:spcAft>
                <a:spcPts val="600"/>
              </a:spcAft>
              <a:buSzPct val="100000"/>
              <a:buFontTx/>
              <a:buChar char="•"/>
              <a:defRPr/>
            </a:pPr>
            <a:r>
              <a:rPr lang="en-US" sz="1200" dirty="0">
                <a:solidFill>
                  <a:prstClr val="black"/>
                </a:solidFill>
              </a:rPr>
              <a:t>Transformer tradeoff: RT-DETR v8s is larger than v8s4-2 but less accurate (0.484 / 0.251), while RT-DETR-L becomes competitive (0.615 / 0.357) at a heavy footprint (112.81MB).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092" y="1597701"/>
            <a:ext cx="7255669" cy="4334176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rcRect l="214" r="1"/>
          <a:stretch>
            <a:fillRect/>
          </a:stretch>
        </p:blipFill>
        <p:spPr>
          <a:xfrm>
            <a:off x="8069117" y="1656002"/>
            <a:ext cx="3832260" cy="1128705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58D78"/>
          </a:solidFill>
          <a:ln w="12700">
            <a:solidFill>
              <a:srgbClr val="A58D78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9" y="0"/>
            <a:ext cx="12184601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lvl="0">
              <a:defRPr/>
            </a:pPr>
            <a:r>
              <a:rPr lang="en-US" sz="32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Remaining / Future Work (Training Focus)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804672"/>
            <a:ext cx="11247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4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Goal: strengthen Transformer baselines vs YOLO and build a classical HOG+SVM reference for edge deployment.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58D78"/>
          </a:solidFill>
          <a:ln w="12700">
            <a:solidFill>
              <a:srgbClr val="A58D78"/>
            </a:solidFill>
            <a:prstDash val="solid"/>
          </a:ln>
        </p:spPr>
      </p:sp>
      <p:sp>
        <p:nvSpPr>
          <p:cNvPr id="33" name="Shape 4"/>
          <p:cNvSpPr/>
          <p:nvPr/>
        </p:nvSpPr>
        <p:spPr>
          <a:xfrm>
            <a:off x="548640" y="1330960"/>
            <a:ext cx="5387340" cy="45542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6"/>
          <p:cNvSpPr/>
          <p:nvPr/>
        </p:nvSpPr>
        <p:spPr>
          <a:xfrm>
            <a:off x="749808" y="1559560"/>
            <a:ext cx="497570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A) Transformer Detectors (YOLO-level benchmark)</a:t>
            </a:r>
            <a:endParaRPr lang="en-US" sz="1800" dirty="0"/>
          </a:p>
        </p:txBody>
      </p:sp>
      <p:sp>
        <p:nvSpPr>
          <p:cNvPr id="35" name="Text 7"/>
          <p:cNvSpPr/>
          <p:nvPr/>
        </p:nvSpPr>
        <p:spPr>
          <a:xfrm>
            <a:off x="777240" y="2044192"/>
            <a:ext cx="4929988" cy="365527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Establish strong baselines: RT-DETR / Deformable DETR-style models; match YOLO input sizes (640/800/1024).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Convergence-focused tuning: LR schedule, warmup, EMA, weight decay; check for under-training vs instability.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Small-object improvement: multi-scale training + higher resolution; analyze per-class AP for traffic signs/lights.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Efficiency path: export ONNX, run-time profiling, and apply pruning/quantization where supported (edge targets).</a:t>
            </a:r>
            <a:endParaRPr lang="en-US" sz="1600" dirty="0"/>
          </a:p>
        </p:txBody>
      </p:sp>
      <p:sp>
        <p:nvSpPr>
          <p:cNvPr id="36" name="Shape 8"/>
          <p:cNvSpPr/>
          <p:nvPr/>
        </p:nvSpPr>
        <p:spPr>
          <a:xfrm>
            <a:off x="6256020" y="1330960"/>
            <a:ext cx="5387340" cy="4547235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10"/>
          <p:cNvSpPr/>
          <p:nvPr/>
        </p:nvSpPr>
        <p:spPr>
          <a:xfrm>
            <a:off x="6457036" y="1559560"/>
            <a:ext cx="497570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B) Classical Baseline (HOG + Linear SVM)</a:t>
            </a:r>
            <a:endParaRPr lang="en-US" sz="1800" dirty="0"/>
          </a:p>
        </p:txBody>
      </p:sp>
      <p:sp>
        <p:nvSpPr>
          <p:cNvPr id="38" name="Text 11"/>
          <p:cNvSpPr/>
          <p:nvPr/>
        </p:nvSpPr>
        <p:spPr>
          <a:xfrm>
            <a:off x="6484468" y="2044192"/>
            <a:ext cx="4929988" cy="3291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a lightweight reference for CPU-only inference (e.g., person/vehicle subsets).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Pipeline: HOG feature extraction → linear SVM → sliding window + image pyramid + NMS.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strategy: hard-negative mining; calibrate decision threshold for precision/recall trade-offs.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Evaluation: same BDD100K val protocol; report mAP/recall and latency on Raspberry Pi CPU.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Deliverable: classical vs deep learning comparison to justify model choice for edge deployment.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20A645B8-2B0F-E6E9-5701-CECDA3098B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9" y="0"/>
            <a:ext cx="12184601" cy="685800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(On-device): CPU vs NPU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1170432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deployment hard: compiling, quantization, and pipeline consistency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130552"/>
            <a:ext cx="649224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Platform: Raspberry Pi 5 (baseline CPU) + Hailo-8 (primary NPU path)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Detectors: YOLOv5 / YOLOv8n,s,m/ PicoDet_s / DETR-family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Acceptance: stable boxes + correct classes + usable FPS on-device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3246120"/>
            <a:ext cx="64922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914400" y="3410712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difficulty ladder (our experience)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14400" y="3749040"/>
            <a:ext cx="6035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Easiest → Hardest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YOLOv5s: NPU path most straightforward (postprocess/NMS is key)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YOLOv8n,s,m: more sensitive to INT8 calibration &amp; export details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PicoDet_s: ecosystem + postprocess differences (conversion friction)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DETR-series: transformer blocks stress compile/quantization; CPU often too slow</a:t>
            </a:r>
            <a:endParaRPr lang="en-US" sz="1600" dirty="0"/>
          </a:p>
        </p:txBody>
      </p:sp>
      <p:pic>
        <p:nvPicPr>
          <p:cNvPr id="12" name="Image 0" descr="/mnt/data/extracted_images/image4.png"/>
          <p:cNvPicPr>
            <a:picLocks noChangeAspect="1"/>
          </p:cNvPicPr>
          <p:nvPr/>
        </p:nvPicPr>
        <p:blipFill>
          <a:blip r:embed="rId4"/>
          <a:srcRect l="32991" r="32991"/>
          <a:stretch/>
        </p:blipFill>
        <p:spPr>
          <a:xfrm>
            <a:off x="7607808" y="1600200"/>
            <a:ext cx="4050792" cy="250088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543800" y="422452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scenes (BDD100K examples)</a:t>
            </a:r>
            <a:endParaRPr lang="en-US" sz="1600" b="1" dirty="0"/>
          </a:p>
        </p:txBody>
      </p:sp>
      <p:sp>
        <p:nvSpPr>
          <p:cNvPr id="14" name="Shape 11"/>
          <p:cNvSpPr/>
          <p:nvPr/>
        </p:nvSpPr>
        <p:spPr>
          <a:xfrm>
            <a:off x="7498080" y="4604004"/>
            <a:ext cx="41605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7772400" y="4650178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lesson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772400" y="4940932"/>
            <a:ext cx="370332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“Compiles” ≠ “works correctly”.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validate in layers: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CPU correctness → 2) NPU compile/run → 3) INT8 stability → 4) FPS.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85800" y="651052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Images: BDD100K examples (BAIR blog, 2018). Refs: Raspberry Pi AI HAT+ docs; HailoRT; Ultralytics; PicoDet; DETR.</a:t>
            </a:r>
            <a:endParaRPr lang="en-US" sz="1100" dirty="0"/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431736F7-8B3B-308E-5BE6-F950022068C2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58D78"/>
          </a:solidFill>
          <a:ln w="12700">
            <a:solidFill>
              <a:srgbClr val="A58D7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>
            <a:extLst>
              <a:ext uri="{FF2B5EF4-FFF2-40B4-BE49-F238E27FC236}">
                <a16:creationId xmlns:a16="http://schemas.microsoft.com/office/drawing/2014/main" id="{516122E8-E8DB-C9E9-A721-71A0D3BB80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9" y="0"/>
            <a:ext cx="12184601" cy="685800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685800" y="528375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1170432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Windows/WSL build chain + Raspberry Pi runtime; CPU baseline for correctness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1746504"/>
            <a:ext cx="3246120" cy="10424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09244" y="1731511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(Dev)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0100" y="1958999"/>
            <a:ext cx="278892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00050" indent="-400050">
              <a:lnSpc>
                <a:spcPct val="112000"/>
              </a:lnSpc>
              <a:buFont typeface="+mj-lt"/>
              <a:buAutoNum type="romanUcPeriod"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ONNX</a:t>
            </a:r>
            <a:endParaRPr lang="en-US" sz="1400" dirty="0"/>
          </a:p>
          <a:p>
            <a:pPr marL="400050" indent="-400050">
              <a:lnSpc>
                <a:spcPct val="112000"/>
              </a:lnSpc>
              <a:buFont typeface="+mj-lt"/>
              <a:buAutoNum type="romanUcPeriod"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calib images</a:t>
            </a:r>
            <a:endParaRPr lang="en-US" sz="1400" dirty="0"/>
          </a:p>
          <a:p>
            <a:pPr marL="400050" indent="-400050">
              <a:lnSpc>
                <a:spcPct val="112000"/>
              </a:lnSpc>
              <a:buFont typeface="+mj-lt"/>
              <a:buAutoNum type="romanUcPeriod"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scp/ssh to Pi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931920" y="2260215"/>
            <a:ext cx="32004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4251960" y="1746504"/>
            <a:ext cx="3246120" cy="10424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373881" y="171927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WSL (DFC build)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49578" y="1959081"/>
            <a:ext cx="278892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00050" indent="-400050">
              <a:lnSpc>
                <a:spcPct val="112000"/>
              </a:lnSpc>
              <a:buFont typeface="+mj-lt"/>
              <a:buAutoNum type="romanUcPeriod"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Parse: ONNX→HAR</a:t>
            </a:r>
            <a:endParaRPr lang="en-US" sz="1400" dirty="0"/>
          </a:p>
          <a:p>
            <a:pPr marL="400050" indent="-400050">
              <a:lnSpc>
                <a:spcPct val="112000"/>
              </a:lnSpc>
              <a:buFont typeface="+mj-lt"/>
              <a:buAutoNum type="romanUcPeriod"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Optimize: INT8 calib</a:t>
            </a:r>
            <a:endParaRPr lang="en-US" sz="1400" dirty="0"/>
          </a:p>
          <a:p>
            <a:pPr marL="400050" indent="-400050">
              <a:lnSpc>
                <a:spcPct val="112000"/>
              </a:lnSpc>
              <a:buFont typeface="+mj-lt"/>
              <a:buAutoNum type="romanUcPeriod"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Compile: HAR→HEF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498079" y="2260215"/>
            <a:ext cx="383883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7881963" y="1731511"/>
            <a:ext cx="3246120" cy="105740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955280" y="171927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5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968049" y="1967608"/>
            <a:ext cx="27889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00050" indent="-400050">
              <a:lnSpc>
                <a:spcPct val="112000"/>
              </a:lnSpc>
              <a:buFont typeface="+mj-lt"/>
              <a:buAutoNum type="romanUcPeriod"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HailoRT loads HEF</a:t>
            </a:r>
            <a:endParaRPr lang="en-US" sz="1400" dirty="0"/>
          </a:p>
          <a:p>
            <a:pPr marL="400050" indent="-400050">
              <a:lnSpc>
                <a:spcPct val="112000"/>
              </a:lnSpc>
              <a:buFont typeface="+mj-lt"/>
              <a:buAutoNum type="romanUcPeriod"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Camera→infer→visualize</a:t>
            </a:r>
            <a:endParaRPr lang="en-US" sz="1400" dirty="0"/>
          </a:p>
          <a:p>
            <a:pPr marL="400050" indent="-400050">
              <a:lnSpc>
                <a:spcPct val="112000"/>
              </a:lnSpc>
              <a:buFont typeface="+mj-lt"/>
              <a:buAutoNum type="romanUcPeriod"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FPS/latency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3154680"/>
            <a:ext cx="612648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914400" y="331927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keep a CPU path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14400" y="3657600"/>
            <a:ext cx="56692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200" indent="-457200">
              <a:lnSpc>
                <a:spcPct val="112000"/>
              </a:lnSpc>
              <a:buFont typeface="+mj-lt"/>
              <a:buAutoNum type="alphaUcPeriod"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baseline: verify preprocess + decode + NMS on the same frames</a:t>
            </a:r>
            <a:endParaRPr lang="en-US" sz="2000" dirty="0"/>
          </a:p>
          <a:p>
            <a:pPr marL="457200" indent="-457200">
              <a:lnSpc>
                <a:spcPct val="112000"/>
              </a:lnSpc>
              <a:buFont typeface="+mj-lt"/>
              <a:buAutoNum type="alphaUcPeriod"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tool: if CPU is correct but NPU is wrong → suspect INT8 / input scale / output vstreams</a:t>
            </a:r>
            <a:endParaRPr lang="en-US" sz="2000" dirty="0"/>
          </a:p>
          <a:p>
            <a:pPr marL="457200" indent="-457200">
              <a:lnSpc>
                <a:spcPct val="112000"/>
              </a:lnSpc>
              <a:buFont typeface="+mj-lt"/>
              <a:buAutoNum type="alphaUcPeriod"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demo: when a model is not yet NPU-stable (e.g., DETR-series)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995160" y="3154680"/>
            <a:ext cx="470916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7223760" y="3319272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NPU is the focus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223760" y="3657599"/>
            <a:ext cx="4251960" cy="24522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200" indent="-457200">
              <a:lnSpc>
                <a:spcPct val="112000"/>
              </a:lnSpc>
              <a:buFont typeface="+mj-lt"/>
              <a:buAutoNum type="alphaUcPeriod"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target on embedded hardware requires acceleration</a:t>
            </a:r>
            <a:endParaRPr lang="en-US" sz="2000" dirty="0"/>
          </a:p>
          <a:p>
            <a:pPr marL="457200" indent="-457200">
              <a:lnSpc>
                <a:spcPct val="112000"/>
              </a:lnSpc>
              <a:buFont typeface="+mj-lt"/>
              <a:buAutoNum type="alphaUcPeriod"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Hailo-8L runs compiled HEF (often INT8) for high throughput</a:t>
            </a:r>
            <a:endParaRPr lang="en-US" sz="2000" dirty="0"/>
          </a:p>
          <a:p>
            <a:pPr marL="457200" indent="-457200">
              <a:lnSpc>
                <a:spcPct val="112000"/>
              </a:lnSpc>
              <a:buFont typeface="+mj-lt"/>
              <a:buAutoNum type="alphaUcPeriod"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engineering work: compiler constraints + quantization stability + postprocess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85800" y="651052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Refs: Raspberry Pi AI Kit/HAT+ software docs; HailoRT runtime; Hailo model zoo optimization pipeline.</a:t>
            </a:r>
            <a:endParaRPr lang="en-US" sz="1100" dirty="0"/>
          </a:p>
        </p:txBody>
      </p:sp>
      <p:sp>
        <p:nvSpPr>
          <p:cNvPr id="25" name="Shape 1">
            <a:extLst>
              <a:ext uri="{FF2B5EF4-FFF2-40B4-BE49-F238E27FC236}">
                <a16:creationId xmlns:a16="http://schemas.microsoft.com/office/drawing/2014/main" id="{C2FD85AB-15E4-2C32-7AAD-5570B586B687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58D78"/>
          </a:solidFill>
          <a:ln w="12700">
            <a:solidFill>
              <a:srgbClr val="A58D7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>
            <a:extLst>
              <a:ext uri="{FF2B5EF4-FFF2-40B4-BE49-F238E27FC236}">
                <a16:creationId xmlns:a16="http://schemas.microsoft.com/office/drawing/2014/main" id="{FC1F1818-5978-1F78-4590-BCA23C736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9" y="0"/>
            <a:ext cx="12184601" cy="6858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/>
              <p:nvPr/>
            </p:nvSpPr>
            <p:spPr>
              <a:xfrm>
                <a:off x="685800" y="502920"/>
                <a:ext cx="11055096" cy="6858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3600" b="1" i="0" dirty="0" smtClean="0">
                        <a:solidFill>
                          <a:srgbClr val="1F2937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𝐘𝐎𝐋𝐎𝐯𝟓𝐬</m:t>
                    </m:r>
                  </m:oMath>
                </a14:m>
                <a:r>
                  <a:rPr lang="en-US" sz="3600" b="1" dirty="0">
                    <a:solidFill>
                      <a:srgbClr val="1F293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on NPU: stable path, but postprocess matters</a:t>
                </a:r>
                <a:endParaRPr lang="en-US" sz="3600" dirty="0"/>
              </a:p>
            </p:txBody>
          </p:sp>
        </mc:Choice>
        <mc:Fallback xmlns="">
          <p:sp>
            <p:nvSpPr>
              <p:cNvPr id="4" name="Text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502920"/>
                <a:ext cx="11055096" cy="685800"/>
              </a:xfrm>
              <a:prstGeom prst="rect">
                <a:avLst/>
              </a:prstGeom>
              <a:blipFill>
                <a:blip r:embed="rId4"/>
                <a:stretch>
                  <a:fillRect t="-10714" b="-303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3"/>
          <p:cNvSpPr/>
          <p:nvPr/>
        </p:nvSpPr>
        <p:spPr>
          <a:xfrm>
            <a:off x="685800" y="1170432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issues: wrong output decoding / missing NMS → “no boxes” or “too many boxes”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5715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wrong (YOLOv5s)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130552"/>
            <a:ext cx="5715000" cy="1801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boxes: wrong output tensor/vstream selected or decode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shape mismatch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Many duplicate boxes: running raw outputs without NMS (no-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NMS HEF)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Threshold mismatch: conf/IoU tuned for FP path but not for INT8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output scale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4073652"/>
            <a:ext cx="5715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(our approach)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4407408"/>
            <a:ext cx="5715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Layered validation: hailortcli run → image inference → camera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stream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Make postprocess explicit: decode + NMS (conf/IoU/topK as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parameters)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CPU baseline on the same frame to verify decode/NMS logic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629400" y="1920240"/>
            <a:ext cx="26060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1" name="Image 0" descr="/mnt/data/extracted_images/image2.png"/>
          <p:cNvPicPr>
            <a:picLocks noChangeAspect="1"/>
          </p:cNvPicPr>
          <p:nvPr/>
        </p:nvPicPr>
        <p:blipFill>
          <a:blip r:embed="rId5"/>
          <a:srcRect l="11741" r="11741"/>
          <a:stretch/>
        </p:blipFill>
        <p:spPr>
          <a:xfrm>
            <a:off x="6684264" y="1975104"/>
            <a:ext cx="2496312" cy="18105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629400" y="390448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(no NMS)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9189720" y="1920240"/>
            <a:ext cx="26060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4" name="Image 1" descr="/mnt/data/extracted_images/image2.png"/>
          <p:cNvPicPr>
            <a:picLocks noChangeAspect="1"/>
          </p:cNvPicPr>
          <p:nvPr/>
        </p:nvPicPr>
        <p:blipFill>
          <a:blip r:embed="rId5"/>
          <a:srcRect l="11741" r="11741"/>
          <a:stretch/>
        </p:blipFill>
        <p:spPr>
          <a:xfrm>
            <a:off x="9244584" y="1975104"/>
            <a:ext cx="2496312" cy="18105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189720" y="390448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NMS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712437" y="2606040"/>
            <a:ext cx="383307" cy="6400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3"/>
          <p:cNvSpPr/>
          <p:nvPr/>
        </p:nvSpPr>
        <p:spPr>
          <a:xfrm>
            <a:off x="6675120" y="2659256"/>
            <a:ext cx="365760" cy="5943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4"/>
          <p:cNvSpPr/>
          <p:nvPr/>
        </p:nvSpPr>
        <p:spPr>
          <a:xfrm>
            <a:off x="6739128" y="2738628"/>
            <a:ext cx="276352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5"/>
          <p:cNvSpPr/>
          <p:nvPr/>
        </p:nvSpPr>
        <p:spPr>
          <a:xfrm>
            <a:off x="7793736" y="2459482"/>
            <a:ext cx="91440" cy="685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6"/>
          <p:cNvSpPr/>
          <p:nvPr/>
        </p:nvSpPr>
        <p:spPr>
          <a:xfrm>
            <a:off x="7767320" y="2438400"/>
            <a:ext cx="91440" cy="990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7"/>
          <p:cNvSpPr/>
          <p:nvPr/>
        </p:nvSpPr>
        <p:spPr>
          <a:xfrm>
            <a:off x="7718552" y="2447544"/>
            <a:ext cx="111760" cy="990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8"/>
          <p:cNvSpPr/>
          <p:nvPr/>
        </p:nvSpPr>
        <p:spPr>
          <a:xfrm>
            <a:off x="9244584" y="2752344"/>
            <a:ext cx="411480" cy="411480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0"/>
          <p:cNvSpPr/>
          <p:nvPr/>
        </p:nvSpPr>
        <p:spPr>
          <a:xfrm>
            <a:off x="10318496" y="2455164"/>
            <a:ext cx="109220" cy="110744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1"/>
          <p:cNvSpPr/>
          <p:nvPr/>
        </p:nvSpPr>
        <p:spPr>
          <a:xfrm>
            <a:off x="6629400" y="4160520"/>
            <a:ext cx="516636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2"/>
          <p:cNvSpPr/>
          <p:nvPr/>
        </p:nvSpPr>
        <p:spPr>
          <a:xfrm>
            <a:off x="6858000" y="432511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(YOLOv5s)</a:t>
            </a:r>
            <a:endParaRPr lang="en-US" sz="2000" dirty="0"/>
          </a:p>
        </p:txBody>
      </p:sp>
      <p:sp>
        <p:nvSpPr>
          <p:cNvPr id="27" name="Text 23"/>
          <p:cNvSpPr/>
          <p:nvPr/>
        </p:nvSpPr>
        <p:spPr>
          <a:xfrm>
            <a:off x="6858000" y="466344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NPU path is reliable once decode + NMS are correct.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“bad results” were pipeline bugs, not the model itself.</a:t>
            </a: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685800" y="651052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Images: BDD100K examples (BAIR blog, 2018). Refs: Ultralytics YOLOv5; Hailo community guide on parsing YOLO models.</a:t>
            </a:r>
            <a:endParaRPr lang="en-US" sz="1100" dirty="0"/>
          </a:p>
        </p:txBody>
      </p:sp>
      <p:sp>
        <p:nvSpPr>
          <p:cNvPr id="29" name="Shape 1">
            <a:extLst>
              <a:ext uri="{FF2B5EF4-FFF2-40B4-BE49-F238E27FC236}">
                <a16:creationId xmlns:a16="http://schemas.microsoft.com/office/drawing/2014/main" id="{1B9D68D1-CDE1-0AFE-83F2-2CCA042AC500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58D78"/>
          </a:solidFill>
          <a:ln w="12700">
            <a:solidFill>
              <a:srgbClr val="A58D7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>
            <a:extLst>
              <a:ext uri="{FF2B5EF4-FFF2-40B4-BE49-F238E27FC236}">
                <a16:creationId xmlns:a16="http://schemas.microsoft.com/office/drawing/2014/main" id="{9AB06222-C65C-969C-BB6C-67E464888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9" y="0"/>
            <a:ext cx="12184601" cy="6858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/>
              <p:nvPr/>
            </p:nvSpPr>
            <p:spPr>
              <a:xfrm>
                <a:off x="685800" y="502920"/>
                <a:ext cx="10789920" cy="6858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3600" b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𝐘𝐎𝐋𝐎𝐯𝟖𝐬</m:t>
                    </m:r>
                    <m:r>
                      <a:rPr lang="en-US" sz="3600" b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/</m:t>
                    </m:r>
                    <m:r>
                      <a:rPr lang="en-US" sz="3600" b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𝐦</m:t>
                    </m:r>
                  </m:oMath>
                </a14:m>
                <a:r>
                  <a:rPr lang="en-US" sz="3600" b="1" dirty="0">
                    <a:solidFill>
                      <a:srgbClr val="1F293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INT8 sensitivity &amp; export details</a:t>
                </a:r>
                <a:endParaRPr lang="en-US" sz="3600" dirty="0"/>
              </a:p>
            </p:txBody>
          </p:sp>
        </mc:Choice>
        <mc:Fallback xmlns="">
          <p:sp>
            <p:nvSpPr>
              <p:cNvPr id="4" name="Text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502920"/>
                <a:ext cx="10789920" cy="685800"/>
              </a:xfrm>
              <a:prstGeom prst="rect">
                <a:avLst/>
              </a:prstGeom>
              <a:blipFill>
                <a:blip r:embed="rId4"/>
                <a:stretch>
                  <a:fillRect t="-10714" b="-303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3"/>
          <p:cNvSpPr/>
          <p:nvPr/>
        </p:nvSpPr>
        <p:spPr>
          <a:xfrm>
            <a:off x="685800" y="1170432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baseline helps isolate: preprocess/scale vs quantization instability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5715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different vs YOLOv5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130552"/>
            <a:ext cx="5715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INT8 calibration more sensitive: unstable boxes if calib-set or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input scale mismatches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Export details matter: static shape + correct input name/layout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to help parser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Engineering gotchas: wrong HEF path/version → “looks like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model changed” but actually didn’t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4105656"/>
            <a:ext cx="5715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(our checklist)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4485132"/>
            <a:ext cx="5715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Lock preprocess: resize/letterbox + RGB/BGR + normalization +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NCHW consistently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Rebuild calib_set with the same preprocessing as runtime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CPU-vs-NPU A/B on the same frame: if CPU OK but NPU wrong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suspect INT8/scale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17178" y="1837944"/>
            <a:ext cx="2718262" cy="20482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1" name="Image 0" descr="/mnt/data/extracted_images/image3.png"/>
          <p:cNvPicPr>
            <a:picLocks noChangeAspect="1"/>
          </p:cNvPicPr>
          <p:nvPr/>
        </p:nvPicPr>
        <p:blipFill>
          <a:blip r:embed="rId5"/>
          <a:srcRect l="12019" r="12019"/>
          <a:stretch/>
        </p:blipFill>
        <p:spPr>
          <a:xfrm>
            <a:off x="6684264" y="1975104"/>
            <a:ext cx="2496312" cy="18105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629400" y="390448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unstable (symptom)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189720" y="1856232"/>
            <a:ext cx="2718262" cy="20482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4" name="Image 1" descr="/mnt/data/extracted_images/image3.png"/>
          <p:cNvPicPr>
            <a:picLocks noChangeAspect="1"/>
          </p:cNvPicPr>
          <p:nvPr/>
        </p:nvPicPr>
        <p:blipFill>
          <a:blip r:embed="rId5"/>
          <a:srcRect l="12019" r="12019"/>
          <a:stretch/>
        </p:blipFill>
        <p:spPr>
          <a:xfrm>
            <a:off x="9279082" y="1985648"/>
            <a:ext cx="2496312" cy="18105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189720" y="390448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calib/export fix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739128" y="2028444"/>
            <a:ext cx="1115568" cy="623316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3"/>
          <p:cNvSpPr/>
          <p:nvPr/>
        </p:nvSpPr>
        <p:spPr>
          <a:xfrm>
            <a:off x="8046720" y="2423160"/>
            <a:ext cx="105156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4"/>
          <p:cNvSpPr/>
          <p:nvPr/>
        </p:nvSpPr>
        <p:spPr>
          <a:xfrm>
            <a:off x="6784848" y="2890904"/>
            <a:ext cx="1508760" cy="594360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5"/>
          <p:cNvSpPr/>
          <p:nvPr/>
        </p:nvSpPr>
        <p:spPr>
          <a:xfrm>
            <a:off x="9843033" y="2534135"/>
            <a:ext cx="485785" cy="438212"/>
          </a:xfrm>
          <a:prstGeom prst="rect">
            <a:avLst/>
          </a:prstGeom>
          <a:solidFill>
            <a:srgbClr val="FFFFFF">
              <a:alpha val="0"/>
            </a:srgbClr>
          </a:solidFill>
          <a:ln w="1651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6"/>
          <p:cNvSpPr/>
          <p:nvPr/>
        </p:nvSpPr>
        <p:spPr>
          <a:xfrm>
            <a:off x="11351741" y="2542032"/>
            <a:ext cx="215420" cy="415352"/>
          </a:xfrm>
          <a:prstGeom prst="rect">
            <a:avLst/>
          </a:prstGeom>
          <a:solidFill>
            <a:srgbClr val="FFFFFF">
              <a:alpha val="0"/>
            </a:srgbClr>
          </a:solidFill>
          <a:ln w="1651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7"/>
          <p:cNvSpPr/>
          <p:nvPr/>
        </p:nvSpPr>
        <p:spPr>
          <a:xfrm>
            <a:off x="6629400" y="4160520"/>
            <a:ext cx="516636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8"/>
          <p:cNvSpPr/>
          <p:nvPr/>
        </p:nvSpPr>
        <p:spPr>
          <a:xfrm>
            <a:off x="6858000" y="432511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(YOLOv8)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6858000" y="466344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failures looked like “model is broken” but were input/scale/calib mismatches.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export + correct calib-set were the highest ROI fixes.</a:t>
            </a: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685800" y="651052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Images: BDD100K examples (BAIR blog, 2018). Refs: Ultralytics YOLOv8 docs; Hailo DFC YOLO parsing guide.</a:t>
            </a:r>
            <a:endParaRPr lang="en-US" sz="1100" dirty="0"/>
          </a:p>
        </p:txBody>
      </p:sp>
      <p:sp>
        <p:nvSpPr>
          <p:cNvPr id="25" name="Shape 14">
            <a:extLst>
              <a:ext uri="{FF2B5EF4-FFF2-40B4-BE49-F238E27FC236}">
                <a16:creationId xmlns:a16="http://schemas.microsoft.com/office/drawing/2014/main" id="{F62F669D-AD31-1F0B-8BDA-990E537949C3}"/>
              </a:ext>
            </a:extLst>
          </p:cNvPr>
          <p:cNvSpPr/>
          <p:nvPr/>
        </p:nvSpPr>
        <p:spPr>
          <a:xfrm>
            <a:off x="7141464" y="2334314"/>
            <a:ext cx="1508760" cy="594360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14">
            <a:extLst>
              <a:ext uri="{FF2B5EF4-FFF2-40B4-BE49-F238E27FC236}">
                <a16:creationId xmlns:a16="http://schemas.microsoft.com/office/drawing/2014/main" id="{94E0AC5D-D68E-158F-CBC2-C645488B776E}"/>
              </a:ext>
            </a:extLst>
          </p:cNvPr>
          <p:cNvSpPr/>
          <p:nvPr/>
        </p:nvSpPr>
        <p:spPr>
          <a:xfrm>
            <a:off x="7566660" y="3002649"/>
            <a:ext cx="1508760" cy="594360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1">
            <a:extLst>
              <a:ext uri="{FF2B5EF4-FFF2-40B4-BE49-F238E27FC236}">
                <a16:creationId xmlns:a16="http://schemas.microsoft.com/office/drawing/2014/main" id="{8A27D02F-8EF7-242E-588A-36A0444E0328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58D78"/>
          </a:solidFill>
          <a:ln w="12700">
            <a:solidFill>
              <a:srgbClr val="A58D7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CBB07F5-9EE7-6834-8B50-78A8D807E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9" y="0"/>
            <a:ext cx="12184601" cy="6858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/>
              <p:nvPr/>
            </p:nvSpPr>
            <p:spPr>
              <a:xfrm>
                <a:off x="685800" y="502920"/>
                <a:ext cx="10789920" cy="6858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3600" b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𝐏𝐢𝐜𝐨𝐃𝐞𝐭</m:t>
                    </m:r>
                    <m:r>
                      <a:rPr lang="en-US" sz="3600" b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_</m:t>
                    </m:r>
                    <m:r>
                      <a:rPr lang="en-US" sz="3600" b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𝐬</m:t>
                    </m:r>
                  </m:oMath>
                </a14:m>
                <a:r>
                  <a:rPr lang="en-US" sz="3600" b="1" dirty="0">
                    <a:solidFill>
                      <a:srgbClr val="1F293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lightweight, but “ecosystem friction”</a:t>
                </a:r>
                <a:endParaRPr lang="en-US" sz="3600" dirty="0"/>
              </a:p>
            </p:txBody>
          </p:sp>
        </mc:Choice>
        <mc:Fallback xmlns="">
          <p:sp>
            <p:nvSpPr>
              <p:cNvPr id="4" name="Text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502920"/>
                <a:ext cx="10789920" cy="685800"/>
              </a:xfrm>
              <a:prstGeom prst="rect">
                <a:avLst/>
              </a:prstGeom>
              <a:blipFill>
                <a:blip r:embed="rId4"/>
                <a:stretch>
                  <a:fillRect t="-10714" b="-303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3"/>
          <p:cNvSpPr/>
          <p:nvPr/>
        </p:nvSpPr>
        <p:spPr>
          <a:xfrm>
            <a:off x="685800" y="1170432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heads &amp; postprocess make NPU porting less straightforward than YOLO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5715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made PicoDet_s harder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130552"/>
            <a:ext cx="5715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Originates in Paddle ecosystem → ONNX graphs differ from </a:t>
            </a:r>
            <a:endParaRPr lang="en-US" altLang="zh-CN" sz="1600" dirty="0">
              <a:solidFill>
                <a:srgbClr val="6B72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altLang="zh-CN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YOLO exports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Decode/postprocess is not the YOLO head; higher risk of    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mismatched semantics    </a:t>
            </a:r>
            <a:endParaRPr lang="en-US" sz="1600" dirty="0"/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Even if it compiles, aligning INT8 output &amp; postprocess can take </a:t>
            </a:r>
            <a:r>
              <a:rPr lang="en-US" altLang="zh-CN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</a:p>
          <a:p>
            <a:pPr>
              <a:lnSpc>
                <a:spcPct val="115000"/>
              </a:lnSpc>
            </a:pPr>
            <a:r>
              <a:rPr lang="en-US" altLang="zh-CN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4090870"/>
            <a:ext cx="5715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used it effectively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4407408"/>
            <a:ext cx="5715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CPU-first: validate output meaning and postprocess on recorded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frames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as a lightweight CPU baseline or a “conversion difficulty”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case study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Only invest in NPU once the CPU decode is fully verified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629400" y="1590026"/>
            <a:ext cx="5166360" cy="60340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118595" y="1659430"/>
            <a:ext cx="218797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Paddle/PicoDet config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79231" y="1909756"/>
            <a:ext cx="1866693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head definitions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212580" y="2193427"/>
            <a:ext cx="0" cy="326507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6629400" y="2547304"/>
            <a:ext cx="5166360" cy="57848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8405581" y="2557975"/>
            <a:ext cx="16139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ONNX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94473" y="2759874"/>
            <a:ext cx="1836214" cy="2697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opset/layout constraints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29400" y="3442716"/>
            <a:ext cx="5166360" cy="55885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266823" y="3450377"/>
            <a:ext cx="202321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DFC parse/optimize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91756" y="3703211"/>
            <a:ext cx="24460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support + INT8 calib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32077" y="5137653"/>
            <a:ext cx="5166360" cy="6415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191756" y="5183279"/>
            <a:ext cx="204164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NPU runtime Fail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086467" y="5422994"/>
            <a:ext cx="2130305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NOT decode &amp; visualize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632077" y="4349454"/>
            <a:ext cx="5166359" cy="502920"/>
          </a:xfrm>
          <a:prstGeom prst="roundRect">
            <a:avLst/>
          </a:prstGeom>
          <a:solidFill>
            <a:srgbClr val="EF4444">
              <a:alpha val="12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7511878" y="4446465"/>
            <a:ext cx="3401403" cy="3255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Friction: export + operator mapping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5800" y="651052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Refs: PP-PicoDet paper + PaddleDetection docs (PicoDet).</a:t>
            </a:r>
            <a:endParaRPr lang="en-US" sz="1100" dirty="0"/>
          </a:p>
        </p:txBody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AD66B742-B359-F263-FC5D-9A752CA9E646}"/>
              </a:ext>
            </a:extLst>
          </p:cNvPr>
          <p:cNvSpPr/>
          <p:nvPr/>
        </p:nvSpPr>
        <p:spPr>
          <a:xfrm>
            <a:off x="9212580" y="3102493"/>
            <a:ext cx="0" cy="326507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11">
            <a:extLst>
              <a:ext uri="{FF2B5EF4-FFF2-40B4-BE49-F238E27FC236}">
                <a16:creationId xmlns:a16="http://schemas.microsoft.com/office/drawing/2014/main" id="{4AC306C8-F7F0-7A02-396E-F544061AD7E2}"/>
              </a:ext>
            </a:extLst>
          </p:cNvPr>
          <p:cNvSpPr/>
          <p:nvPr/>
        </p:nvSpPr>
        <p:spPr>
          <a:xfrm>
            <a:off x="9212580" y="4001570"/>
            <a:ext cx="0" cy="326507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11">
            <a:extLst>
              <a:ext uri="{FF2B5EF4-FFF2-40B4-BE49-F238E27FC236}">
                <a16:creationId xmlns:a16="http://schemas.microsoft.com/office/drawing/2014/main" id="{BC676189-6E6C-8A66-5E6F-A77CB2A1F99B}"/>
              </a:ext>
            </a:extLst>
          </p:cNvPr>
          <p:cNvSpPr/>
          <p:nvPr/>
        </p:nvSpPr>
        <p:spPr>
          <a:xfrm>
            <a:off x="9212577" y="4852374"/>
            <a:ext cx="0" cy="285279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2" name="图形 31" descr="竖起的大拇指手势 纯色填充">
            <a:extLst>
              <a:ext uri="{FF2B5EF4-FFF2-40B4-BE49-F238E27FC236}">
                <a16:creationId xmlns:a16="http://schemas.microsoft.com/office/drawing/2014/main" id="{65673150-2A32-FB81-7F2C-B2CB323222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19785" y="2160013"/>
            <a:ext cx="412477" cy="412477"/>
          </a:xfrm>
          <a:prstGeom prst="rect">
            <a:avLst/>
          </a:prstGeom>
        </p:spPr>
      </p:pic>
      <p:pic>
        <p:nvPicPr>
          <p:cNvPr id="33" name="图形 32" descr="竖起的大拇指手势 纯色填充">
            <a:extLst>
              <a:ext uri="{FF2B5EF4-FFF2-40B4-BE49-F238E27FC236}">
                <a16:creationId xmlns:a16="http://schemas.microsoft.com/office/drawing/2014/main" id="{0F74FC91-6636-C2DD-FB08-66F8BABF35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35642" y="3044365"/>
            <a:ext cx="412477" cy="412477"/>
          </a:xfrm>
          <a:prstGeom prst="rect">
            <a:avLst/>
          </a:prstGeom>
        </p:spPr>
      </p:pic>
      <p:pic>
        <p:nvPicPr>
          <p:cNvPr id="35" name="图形 34" descr="实心填充的悲伤表情 纯色填充">
            <a:extLst>
              <a:ext uri="{FF2B5EF4-FFF2-40B4-BE49-F238E27FC236}">
                <a16:creationId xmlns:a16="http://schemas.microsoft.com/office/drawing/2014/main" id="{2BA58E7E-3CC5-6821-2EE4-302082EC47D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53996" y="4006120"/>
            <a:ext cx="344053" cy="344053"/>
          </a:xfrm>
          <a:prstGeom prst="rect">
            <a:avLst/>
          </a:prstGeom>
        </p:spPr>
      </p:pic>
      <p:pic>
        <p:nvPicPr>
          <p:cNvPr id="37" name="图形 36" descr="关闭 纯色填充">
            <a:extLst>
              <a:ext uri="{FF2B5EF4-FFF2-40B4-BE49-F238E27FC236}">
                <a16:creationId xmlns:a16="http://schemas.microsoft.com/office/drawing/2014/main" id="{32C0C559-6BD5-5B82-2D92-D65EAD6E903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97999" y="5212161"/>
            <a:ext cx="435823" cy="435823"/>
          </a:xfrm>
          <a:prstGeom prst="rect">
            <a:avLst/>
          </a:prstGeom>
        </p:spPr>
      </p:pic>
      <p:sp>
        <p:nvSpPr>
          <p:cNvPr id="17" name="Shape 1">
            <a:extLst>
              <a:ext uri="{FF2B5EF4-FFF2-40B4-BE49-F238E27FC236}">
                <a16:creationId xmlns:a16="http://schemas.microsoft.com/office/drawing/2014/main" id="{460369CA-CF49-2F7F-4A01-47C290D183CF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58D78"/>
          </a:solidFill>
          <a:ln w="12700">
            <a:solidFill>
              <a:srgbClr val="A58D7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DC07079A-89FC-18F0-6981-1A7B9336C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9" y="0"/>
            <a:ext cx="12184601" cy="685800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DETR-series: transformer blocks stress NPU compilation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1170432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 part: graph structure + quantization stability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5715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pain points (DETR/RT-DETR)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130552"/>
            <a:ext cx="5715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Transformer components (attention/matmul/layernorm)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complicate parsing &amp; INT8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Export must be conservative: static shapes; avoid aggressive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simplification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Even when CPU runs correctly, CPU-only FPS on Pi is often not </a:t>
            </a:r>
          </a:p>
          <a:p>
            <a:pPr>
              <a:lnSpc>
                <a:spcPct val="115000"/>
              </a:lnSpc>
            </a:pPr>
            <a:r>
              <a:rPr lang="en-US" altLang="zh-CN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4086791"/>
            <a:ext cx="5715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we used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4406831"/>
            <a:ext cx="5715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Treat as “boundary test”: define what fails (parse vs compile vs </a:t>
            </a:r>
          </a:p>
          <a:p>
            <a:pPr>
              <a:lnSpc>
                <a:spcPct val="115000"/>
              </a:lnSpc>
            </a:pPr>
            <a:r>
              <a:rPr lang="en-US" altLang="zh-CN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stability)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CPU baseline for correctness; use NPU attempts to map </a:t>
            </a:r>
          </a:p>
          <a:p>
            <a:pPr>
              <a:lnSpc>
                <a:spcPct val="115000"/>
              </a:lnSpc>
            </a:pPr>
            <a:r>
              <a:rPr lang="en-US" altLang="zh-CN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limits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Prioritize YOLO for real-time demo; DETR supports the research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narrative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629400" y="1645920"/>
            <a:ext cx="5166360" cy="4864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119366" y="2830975"/>
            <a:ext cx="4203954" cy="399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encoder/decoder (simplified)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979920" y="1905290"/>
            <a:ext cx="4526280" cy="622615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7784262" y="1968245"/>
            <a:ext cx="2792627" cy="4652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backbone → feature map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85432" y="3271740"/>
            <a:ext cx="4590288" cy="9345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7223760" y="3327963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self-attention (MatMul-heavy)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212580" y="4206240"/>
            <a:ext cx="0" cy="22860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6949440" y="4424790"/>
            <a:ext cx="4526280" cy="46659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7162800" y="4535178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FFN / LayerNorm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212580" y="4891380"/>
            <a:ext cx="0" cy="384048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949440" y="5275429"/>
            <a:ext cx="452628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2" name="Text 20"/>
          <p:cNvSpPr/>
          <p:nvPr/>
        </p:nvSpPr>
        <p:spPr>
          <a:xfrm>
            <a:off x="7132320" y="5364398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+ object queries → set predictions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040880" y="3642978"/>
            <a:ext cx="4343400" cy="411480"/>
          </a:xfrm>
          <a:prstGeom prst="roundRect">
            <a:avLst/>
          </a:prstGeom>
          <a:solidFill>
            <a:srgbClr val="EF4444">
              <a:alpha val="12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4" name="Text 22"/>
          <p:cNvSpPr/>
          <p:nvPr/>
        </p:nvSpPr>
        <p:spPr>
          <a:xfrm>
            <a:off x="7842174" y="3737792"/>
            <a:ext cx="2740812" cy="219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the INT8/compile pain point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651052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Refs: DETR paper (Carion et al., ECCV 2020).</a:t>
            </a:r>
            <a:endParaRPr lang="en-US" sz="1100" dirty="0"/>
          </a:p>
        </p:txBody>
      </p:sp>
      <p:sp>
        <p:nvSpPr>
          <p:cNvPr id="26" name="Shape 1">
            <a:extLst>
              <a:ext uri="{FF2B5EF4-FFF2-40B4-BE49-F238E27FC236}">
                <a16:creationId xmlns:a16="http://schemas.microsoft.com/office/drawing/2014/main" id="{1FDBE9C2-06C6-3043-A6C5-222891B62C3B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58D78"/>
          </a:solidFill>
          <a:ln w="12700">
            <a:solidFill>
              <a:srgbClr val="A58D7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72B07624-6FBA-C514-5DED-AAC160364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9" y="0"/>
            <a:ext cx="12184601" cy="685800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 where FPS is lost (NPU)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1170432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is usually end-to-end pipeline, not only the accelerator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510817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130552"/>
            <a:ext cx="5715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CPU baseline: end-to-end (camera → preprocess → CPU infer →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postprocess → display)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NPU target: same pipeline but infer on Hailo-8 (HEF), typically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INT8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Report: FPS, per-stage latency, and the impact of buffering /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threading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4002106"/>
            <a:ext cx="5715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moves we used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4370832"/>
            <a:ext cx="5715000" cy="1746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altLang="zh-CN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buffering &amp; read behavior tuning  </a:t>
            </a:r>
          </a:p>
          <a:p>
            <a:pPr>
              <a:lnSpc>
                <a:spcPct val="115000"/>
              </a:lnSpc>
            </a:pPr>
            <a:r>
              <a:rPr lang="en-US" altLang="zh-CN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(CAP_PROP_BUFFERSIZE: 1 → 2)</a:t>
            </a: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altLang="zh-CN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display overhead </a:t>
            </a:r>
          </a:p>
          <a:p>
            <a:pPr>
              <a:lnSpc>
                <a:spcPct val="115000"/>
              </a:lnSpc>
            </a:pPr>
            <a:r>
              <a:rPr lang="en-US" altLang="zh-CN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(display every N frames + headless benchmark)</a:t>
            </a: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Stage-level profiling (cap / pre / infer / display) to locate the </a:t>
            </a: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bottleneck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5800" y="651052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Refs: HailoRT CLI (benchmarking), Raspberry Pi AI software docs.</a:t>
            </a:r>
            <a:endParaRPr lang="en-US" sz="1100" dirty="0"/>
          </a:p>
        </p:txBody>
      </p:sp>
      <p:pic>
        <p:nvPicPr>
          <p:cNvPr id="30" name="图片 29" descr="图表, 饼图&#10;&#10;AI 生成的内容可能不正确。">
            <a:extLst>
              <a:ext uri="{FF2B5EF4-FFF2-40B4-BE49-F238E27FC236}">
                <a16:creationId xmlns:a16="http://schemas.microsoft.com/office/drawing/2014/main" id="{B182AF34-CFE7-5A95-31A7-5A7E9AB091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454" y="2061972"/>
            <a:ext cx="5025746" cy="3429000"/>
          </a:xfrm>
          <a:prstGeom prst="rect">
            <a:avLst/>
          </a:prstGeom>
        </p:spPr>
      </p:pic>
      <p:sp>
        <p:nvSpPr>
          <p:cNvPr id="11" name="Shape 1">
            <a:extLst>
              <a:ext uri="{FF2B5EF4-FFF2-40B4-BE49-F238E27FC236}">
                <a16:creationId xmlns:a16="http://schemas.microsoft.com/office/drawing/2014/main" id="{8478ABAB-0023-3C5E-27E2-7F1C22081DDD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58D78"/>
          </a:solidFill>
          <a:ln w="12700">
            <a:solidFill>
              <a:srgbClr val="A58D7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91CF4-0653-EC4A-ED18-E67D42A37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55F9D6A-6817-EBAD-3C33-A0EDBBE62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9" y="0"/>
            <a:ext cx="12184601" cy="6858000"/>
          </a:xfrm>
          <a:prstGeom prst="rect">
            <a:avLst/>
          </a:prstGeom>
        </p:spPr>
      </p:pic>
      <p:sp>
        <p:nvSpPr>
          <p:cNvPr id="23" name="Text 21">
            <a:extLst>
              <a:ext uri="{FF2B5EF4-FFF2-40B4-BE49-F238E27FC236}">
                <a16:creationId xmlns:a16="http://schemas.microsoft.com/office/drawing/2014/main" id="{AEE2CED8-C089-E146-4B4C-CC8F282F28E5}"/>
              </a:ext>
            </a:extLst>
          </p:cNvPr>
          <p:cNvSpPr/>
          <p:nvPr/>
        </p:nvSpPr>
        <p:spPr>
          <a:xfrm>
            <a:off x="685800" y="651052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Refs: HailoRT CLI (benchmarking), Raspberry Pi AI software docs.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6" name="图片 45" descr="图形用户界面&#10;&#10;AI 生成的内容可能不正确。">
            <a:extLst>
              <a:ext uri="{FF2B5EF4-FFF2-40B4-BE49-F238E27FC236}">
                <a16:creationId xmlns:a16="http://schemas.microsoft.com/office/drawing/2014/main" id="{73B1D4BC-D668-3F37-73EF-31F07ED446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420" y="1980980"/>
            <a:ext cx="6462956" cy="3697234"/>
          </a:xfrm>
          <a:prstGeom prst="rect">
            <a:avLst/>
          </a:prstGeom>
        </p:spPr>
      </p:pic>
      <p:pic>
        <p:nvPicPr>
          <p:cNvPr id="48" name="图片 47" descr="图表, 饼图&#10;&#10;AI 生成的内容可能不正确。">
            <a:extLst>
              <a:ext uri="{FF2B5EF4-FFF2-40B4-BE49-F238E27FC236}">
                <a16:creationId xmlns:a16="http://schemas.microsoft.com/office/drawing/2014/main" id="{5D9676B6-3766-C8FA-5448-B100A44DF4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7429" y="2123665"/>
            <a:ext cx="5495970" cy="3216813"/>
          </a:xfrm>
          <a:prstGeom prst="rect">
            <a:avLst/>
          </a:prstGeom>
        </p:spPr>
      </p:pic>
      <p:sp>
        <p:nvSpPr>
          <p:cNvPr id="52" name="文本框 51">
            <a:extLst>
              <a:ext uri="{FF2B5EF4-FFF2-40B4-BE49-F238E27FC236}">
                <a16:creationId xmlns:a16="http://schemas.microsoft.com/office/drawing/2014/main" id="{4A179B4F-4A4E-6665-E159-4308EE6CC8C9}"/>
              </a:ext>
            </a:extLst>
          </p:cNvPr>
          <p:cNvSpPr txBox="1"/>
          <p:nvPr/>
        </p:nvSpPr>
        <p:spPr>
          <a:xfrm>
            <a:off x="685799" y="503999"/>
            <a:ext cx="10789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 where FPS is improved (NPU)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B9446BDC-7C94-5712-529D-5134F774082C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58D78"/>
          </a:solidFill>
          <a:ln w="12700">
            <a:solidFill>
              <a:srgbClr val="A58D7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1498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7272E-4C22-0EFD-A633-EAC6F9E35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49E947F-277A-1948-0926-0917CCA3D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9" y="0"/>
            <a:ext cx="12184601" cy="6858000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D0F47D0E-280B-209B-72A2-FE29B6795DAB}"/>
              </a:ext>
            </a:extLst>
          </p:cNvPr>
          <p:cNvSpPr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On-device Performance Evaluation on Raspberry Pi 5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F60E00A0-1BC6-BED6-A308-00B0E50D571A}"/>
              </a:ext>
            </a:extLst>
          </p:cNvPr>
          <p:cNvSpPr/>
          <p:nvPr/>
        </p:nvSpPr>
        <p:spPr>
          <a:xfrm>
            <a:off x="685800" y="651052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Refs: HailoRT CLI (benchmarking), Raspberry Pi AI software docs.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02A450C-7150-C0FC-D9EE-69FAA96C387A}"/>
              </a:ext>
            </a:extLst>
          </p:cNvPr>
          <p:cNvSpPr/>
          <p:nvPr/>
        </p:nvSpPr>
        <p:spPr>
          <a:xfrm>
            <a:off x="321426" y="1893756"/>
            <a:ext cx="5403272" cy="340821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DD0E7814-ECBF-0DFA-13E8-93DEEC9564B2}"/>
              </a:ext>
            </a:extLst>
          </p:cNvPr>
          <p:cNvSpPr/>
          <p:nvPr/>
        </p:nvSpPr>
        <p:spPr>
          <a:xfrm>
            <a:off x="5893724" y="1335698"/>
            <a:ext cx="5976850" cy="4834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A68F8CE7-6DFE-488A-2CA8-3EFD0A55F6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882" y="2282025"/>
            <a:ext cx="5166360" cy="2705395"/>
          </a:xfrm>
          <a:prstGeom prst="rect">
            <a:avLst/>
          </a:prstGeom>
        </p:spPr>
      </p:pic>
      <p:pic>
        <p:nvPicPr>
          <p:cNvPr id="17" name="图片 16" descr="图表, 条形图&#10;&#10;AI 生成的内容可能不正确。">
            <a:extLst>
              <a:ext uri="{FF2B5EF4-FFF2-40B4-BE49-F238E27FC236}">
                <a16:creationId xmlns:a16="http://schemas.microsoft.com/office/drawing/2014/main" id="{282D2461-4D20-F8BA-AC75-A88CC61C69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1288" y="2038202"/>
            <a:ext cx="5841721" cy="3429000"/>
          </a:xfrm>
          <a:prstGeom prst="rect">
            <a:avLst/>
          </a:prstGeom>
        </p:spPr>
      </p:pic>
      <p:sp>
        <p:nvSpPr>
          <p:cNvPr id="5" name="Shape 1">
            <a:extLst>
              <a:ext uri="{FF2B5EF4-FFF2-40B4-BE49-F238E27FC236}">
                <a16:creationId xmlns:a16="http://schemas.microsoft.com/office/drawing/2014/main" id="{D065CDDA-284D-E2E1-D2D3-F8B253A95067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58D78"/>
          </a:solidFill>
          <a:ln w="12700">
            <a:solidFill>
              <a:srgbClr val="A58D7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4570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片 37">
            <a:extLst>
              <a:ext uri="{FF2B5EF4-FFF2-40B4-BE49-F238E27FC236}">
                <a16:creationId xmlns:a16="http://schemas.microsoft.com/office/drawing/2014/main" id="{32B16191-A549-5DEA-558B-626A23B20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9" y="0"/>
            <a:ext cx="12184601" cy="685800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SOP &amp; lessons learned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1170432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repeatable checklist across YOLOv5/8, PicoDet_s, and DETR-series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1656382"/>
            <a:ext cx="571500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914400" y="1723305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(repeatable steps)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041238"/>
            <a:ext cx="5257800" cy="20997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Export ONNX (static input, correct names/layout)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Build calib_set with runtime-identical preprocessing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DFC: parse → optimize(INT8) → compile(HEF)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Pi: hardware checks → hailortcli sanity run → camera demo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Validate: boxes stable + classes correct + FPS/latency measured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29400" y="1828800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Model-by-model outcome (deployment focus)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629400" y="2240280"/>
            <a:ext cx="516636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812280" y="2404872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41080" y="240487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role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92640" y="240487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NPU pain point (typical)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66560" y="2743200"/>
            <a:ext cx="48920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766560" y="3337560"/>
            <a:ext cx="48920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6766560" y="3931920"/>
            <a:ext cx="48920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766560" y="4526280"/>
            <a:ext cx="48920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6766560" y="5120640"/>
            <a:ext cx="48920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812280" y="280720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YOLOv5s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41080" y="280720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+ debug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92640" y="2807208"/>
            <a:ext cx="192024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/ NMS alignment (no-NMS HEF)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12280" y="340156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41080" y="34015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vs NPU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92640" y="3401567"/>
            <a:ext cx="1920240" cy="4045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calib / input scale sensitivity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12280" y="399592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YOLOv8m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41080" y="39959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vs NPU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92640" y="3995927"/>
            <a:ext cx="1920240" cy="4045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v8s + larger compute footprint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12280" y="459028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PicoDet_s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641080" y="45902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CPU-first verify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692640" y="4590287"/>
            <a:ext cx="1920240" cy="4663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+ head/postprocess mismatch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12280" y="518464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DETR-series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641080" y="518464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only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692640" y="5184647"/>
            <a:ext cx="1920240" cy="6675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blocks stress compile/INT8; CPU too slow for realtime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31520" y="4321755"/>
            <a:ext cx="5669280" cy="2035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914400" y="4442013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914400" y="4790966"/>
            <a:ext cx="5257800" cy="14035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“deployment bugs” are consistency bugs: preprocess, scale, and postprocess.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baseline is essential; NPU is essential for realtime.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model families is also choosing deployment complexity.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85800" y="651052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Refs: Ultralytics YOLOv5/8; PP-PicoDet; DETR; HailoRT; Raspberry Pi AI HAT+ docs.</a:t>
            </a:r>
            <a:endParaRPr lang="en-US" sz="1100" dirty="0"/>
          </a:p>
        </p:txBody>
      </p:sp>
      <p:sp>
        <p:nvSpPr>
          <p:cNvPr id="39" name="Shape 1">
            <a:extLst>
              <a:ext uri="{FF2B5EF4-FFF2-40B4-BE49-F238E27FC236}">
                <a16:creationId xmlns:a16="http://schemas.microsoft.com/office/drawing/2014/main" id="{34F3D020-98F1-8153-DCA7-F07C0B34670F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58D78"/>
          </a:solidFill>
          <a:ln w="12700">
            <a:solidFill>
              <a:srgbClr val="A58D7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B055761-66BD-85C2-E6A6-085F3C6A30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9" y="0"/>
            <a:ext cx="12184601" cy="6858000"/>
          </a:xfrm>
          <a:prstGeom prst="rect">
            <a:avLst/>
          </a:prstGeom>
        </p:spPr>
      </p:pic>
      <p:sp>
        <p:nvSpPr>
          <p:cNvPr id="6" name="Text 4"/>
          <p:cNvSpPr/>
          <p:nvPr/>
        </p:nvSpPr>
        <p:spPr>
          <a:xfrm>
            <a:off x="0" y="2148840"/>
            <a:ext cx="121916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7000" dirty="0"/>
          </a:p>
        </p:txBody>
      </p:sp>
      <p:sp>
        <p:nvSpPr>
          <p:cNvPr id="8" name="Text 6"/>
          <p:cNvSpPr/>
          <p:nvPr/>
        </p:nvSpPr>
        <p:spPr>
          <a:xfrm>
            <a:off x="0" y="34290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6355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Haoyi   |   Supervisor: Prof. Bharadwaj Veeravalli</a:t>
            </a:r>
            <a:endParaRPr lang="en-US" sz="1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9C4974-093E-D09B-1AF9-680B997DB359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353458" y="3275455"/>
            <a:ext cx="3484778" cy="103076"/>
          </a:xfrm>
          <a:prstGeom prst="rect">
            <a:avLst/>
          </a:prstGeom>
          <a:solidFill>
            <a:srgbClr val="A58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DD7DAE84-B79E-DA2A-0BDB-6C52463EE1BB}"/>
              </a:ext>
            </a:extLst>
          </p:cNvPr>
          <p:cNvSpPr/>
          <p:nvPr/>
        </p:nvSpPr>
        <p:spPr>
          <a:xfrm>
            <a:off x="0" y="0"/>
            <a:ext cx="201295" cy="6868795"/>
          </a:xfrm>
          <a:prstGeom prst="rect">
            <a:avLst/>
          </a:prstGeom>
          <a:solidFill>
            <a:srgbClr val="A58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8,&quot;left&quot;:54,&quot;top&quot;:151.2,&quot;width&quot;:851.975984251968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8,&quot;left&quot;:54,&quot;top&quot;:151.2,&quot;width&quot;:851.975984251968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8,&quot;left&quot;:54,&quot;top&quot;:151.2,&quot;width&quot;:851.975984251968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8,&quot;left&quot;:54,&quot;top&quot;:151.2,&quot;width&quot;:851.975984251968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8,&quot;left&quot;:54,&quot;top&quot;:151.2,&quot;width&quot;:851.975984251968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8,&quot;left&quot;:54,&quot;top&quot;:151.2,&quot;width&quot;:851.975984251968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8,&quot;left&quot;:54,&quot;top&quot;:151.2,&quot;width&quot;:851.975984251968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8,&quot;left&quot;:54,&quot;top&quot;:151.2,&quot;width&quot;:851.975984251968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8,&quot;left&quot;:54,&quot;top&quot;:151.2,&quot;width&quot;:851.975984251968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8,&quot;left&quot;:54,&quot;top&quot;:151.2,&quot;width&quot;:851.975984251968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8,&quot;left&quot;:54,&quot;top&quot;:151.2,&quot;width&quot;:851.975984251968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8,&quot;left&quot;:54,&quot;top&quot;:151.2,&quot;width&quot;:851.975984251968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7999999999999,&quot;left&quot;:54,&quot;top&quot;:147.59992125984252,&quot;width&quot;:851.975984251968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7999999999999,&quot;left&quot;:54,&quot;top&quot;:147.59992125984252,&quot;width&quot;:851.975984251968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7999999999999,&quot;left&quot;:54,&quot;top&quot;:147.59992125984252,&quot;width&quot;:851.975984251968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7999999999999,&quot;left&quot;:54,&quot;top&quot;:147.59992125984252,&quot;width&quot;:851.975984251968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7999999999999,&quot;left&quot;:54,&quot;top&quot;:147.59992125984252,&quot;width&quot;:851.975984251968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7999999999999,&quot;left&quot;:54,&quot;top&quot;:147.59992125984252,&quot;width&quot;:851.975984251968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7999999999999,&quot;left&quot;:54,&quot;top&quot;:147.59992125984252,&quot;width&quot;:851.975984251968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7999999999999,&quot;left&quot;:54,&quot;top&quot;:147.59992125984252,&quot;width&quot;:851.975984251968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7999999999999,&quot;left&quot;:54,&quot;top&quot;:147.59992125984252,&quot;width&quot;:851.975984251968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7999999999999,&quot;left&quot;:54,&quot;top&quot;:147.59992125984252,&quot;width&quot;:851.975984251968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7999999999999,&quot;left&quot;:54,&quot;top&quot;:147.59992125984252,&quot;width&quot;:851.975984251968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7999999999999,&quot;left&quot;:54,&quot;top&quot;:147.59992125984252,&quot;width&quot;:851.975984251968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7999999999999,&quot;left&quot;:54,&quot;top&quot;:147.59992125984252,&quot;width&quot;:851.9759842519685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7999999999999,&quot;left&quot;:54,&quot;top&quot;:147.59992125984252,&quot;width&quot;:851.9759842519685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7999999999999,&quot;left&quot;:54,&quot;top&quot;:147.59992125984252,&quot;width&quot;:851.9759842519685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7999999999999,&quot;left&quot;:54,&quot;top&quot;:147.59992125984252,&quot;width&quot;:851.9759842519685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,&quot;left&quot;:50.4,&quot;top&quot;:118.8,&quot;width&quot;:859.176062992126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,&quot;left&quot;:50.4,&quot;top&quot;:118.8,&quot;width&quot;:859.176062992126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,&quot;left&quot;:50.4,&quot;top&quot;:118.8,&quot;width&quot;:859.176062992126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,&quot;left&quot;:50.4,&quot;top&quot;:118.8,&quot;width&quot;:859.17606299212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,&quot;left&quot;:50.4,&quot;top&quot;:118.8,&quot;width&quot;:859.176062992126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,&quot;left&quot;:50.4,&quot;top&quot;:118.8,&quot;width&quot;:859.176062992126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,&quot;left&quot;:50.4,&quot;top&quot;:118.8,&quot;width&quot;:859.176062992126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,&quot;left&quot;:50.4,&quot;top&quot;:118.8,&quot;width&quot;:859.176062992126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,&quot;left&quot;:50.4,&quot;top&quot;:118.8,&quot;width&quot;:859.176062992126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,&quot;left&quot;:50.4,&quot;top&quot;:118.8,&quot;width&quot;:859.176062992126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,&quot;left&quot;:50.4,&quot;top&quot;:118.8,&quot;width&quot;:859.176062992126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,&quot;left&quot;:50.4,&quot;top&quot;:118.8,&quot;width&quot;:859.176062992126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,&quot;left&quot;:50.4,&quot;top&quot;:118.8,&quot;width&quot;:859.176062992126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,&quot;left&quot;:50.4,&quot;top&quot;:118.8,&quot;width&quot;:859.176062992126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8,&quot;left&quot;:54,&quot;top&quot;:151.2,&quot;width&quot;:851.975984251968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4664</Words>
  <Application>Microsoft Office PowerPoint</Application>
  <PresentationFormat>宽屏</PresentationFormat>
  <Paragraphs>457</Paragraphs>
  <Slides>30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5" baseType="lpstr">
      <vt:lpstr>等线</vt:lpstr>
      <vt:lpstr>Arial</vt:lpstr>
      <vt:lpstr>Calibri</vt:lpstr>
      <vt:lpstr>Cambria Math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SP14</dc:creator>
  <cp:lastModifiedBy>皓议 马</cp:lastModifiedBy>
  <cp:revision>41</cp:revision>
  <dcterms:created xsi:type="dcterms:W3CDTF">2026-01-03T09:09:00Z</dcterms:created>
  <dcterms:modified xsi:type="dcterms:W3CDTF">2026-03-05T05:24:30Z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36FCE33AC2AB42C38551600EA0AD06C2_12</vt:lpwstr>
  </property>
</Properties>
</file>